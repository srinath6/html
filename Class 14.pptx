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0" r:id="rId2"/>
  </p:sldMasterIdLst>
  <p:notesMasterIdLst>
    <p:notesMasterId r:id="rId28"/>
  </p:notesMasterIdLst>
  <p:handoutMasterIdLst>
    <p:handoutMasterId r:id="rId29"/>
  </p:handoutMasterIdLst>
  <p:sldIdLst>
    <p:sldId id="283" r:id="rId3"/>
    <p:sldId id="375" r:id="rId4"/>
    <p:sldId id="794" r:id="rId5"/>
    <p:sldId id="795" r:id="rId6"/>
    <p:sldId id="864" r:id="rId7"/>
    <p:sldId id="796" r:id="rId8"/>
    <p:sldId id="816" r:id="rId9"/>
    <p:sldId id="867" r:id="rId10"/>
    <p:sldId id="865" r:id="rId11"/>
    <p:sldId id="866" r:id="rId12"/>
    <p:sldId id="868" r:id="rId13"/>
    <p:sldId id="869" r:id="rId14"/>
    <p:sldId id="870" r:id="rId15"/>
    <p:sldId id="872" r:id="rId16"/>
    <p:sldId id="871" r:id="rId17"/>
    <p:sldId id="873" r:id="rId18"/>
    <p:sldId id="874" r:id="rId19"/>
    <p:sldId id="875" r:id="rId20"/>
    <p:sldId id="876" r:id="rId21"/>
    <p:sldId id="877" r:id="rId22"/>
    <p:sldId id="879" r:id="rId23"/>
    <p:sldId id="878" r:id="rId24"/>
    <p:sldId id="880" r:id="rId25"/>
    <p:sldId id="882" r:id="rId26"/>
    <p:sldId id="261" r:id="rId27"/>
  </p:sldIdLst>
  <p:sldSz cx="9144000" cy="5143500" type="screen16x9"/>
  <p:notesSz cx="6858000" cy="91440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44" autoAdjust="0"/>
    <p:restoredTop sz="94353" autoAdjust="0"/>
  </p:normalViewPr>
  <p:slideViewPr>
    <p:cSldViewPr>
      <p:cViewPr varScale="1">
        <p:scale>
          <a:sx n="91" d="100"/>
          <a:sy n="91" d="100"/>
        </p:scale>
        <p:origin x="642" y="90"/>
      </p:cViewPr>
      <p:guideLst>
        <p:guide orient="horz" pos="1620"/>
        <p:guide pos="2880"/>
      </p:guideLst>
    </p:cSldViewPr>
  </p:slideViewPr>
  <p:outlineViewPr>
    <p:cViewPr>
      <p:scale>
        <a:sx n="33" d="100"/>
        <a:sy n="33" d="100"/>
      </p:scale>
      <p:origin x="0" y="-528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6" d="100"/>
          <a:sy n="56" d="100"/>
        </p:scale>
        <p:origin x="-254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E7CCEC-F375-47DE-A104-C51D471F5D4A}" type="datetimeFigureOut">
              <a:rPr lang="en-US" smtClean="0"/>
              <a:pPr/>
              <a:t>2/3/2020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CIA Group, NIT Silchar</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2A8795-897B-48CF-9E16-76DD5A1A90CA}" type="slidenum">
              <a:rPr lang="en-US" smtClean="0"/>
              <a:pPr/>
              <a:t>‹#›</a:t>
            </a:fld>
            <a:endParaRPr lang="en-US" dirty="0"/>
          </a:p>
        </p:txBody>
      </p:sp>
    </p:spTree>
    <p:extLst>
      <p:ext uri="{BB962C8B-B14F-4D97-AF65-F5344CB8AC3E}">
        <p14:creationId xmlns:p14="http://schemas.microsoft.com/office/powerpoint/2010/main" val="649019695"/>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extLst/>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extLst/>
          </a:lstStyle>
          <a:p>
            <a:fld id="{A8ADFD5B-A66C-449C-B6E8-FB716D07777D}" type="datetimeFigureOut">
              <a:rPr lang="en-US" smtClean="0"/>
              <a:pPr/>
              <a:t>2/3/2020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extLst/>
          </a:lstStyle>
          <a:p>
            <a:r>
              <a:rPr lang="en-US"/>
              <a:t>CIA Group, NIT Silchar</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extLst/>
          </a:lstStyle>
          <a:p>
            <a:fld id="{CA5D3BF3-D352-46FC-8343-31F56E6730EA}" type="slidenum">
              <a:rPr lang="en-US" smtClean="0"/>
              <a:pPr/>
              <a:t>‹#›</a:t>
            </a:fld>
            <a:endParaRPr lang="en-US" dirty="0"/>
          </a:p>
        </p:txBody>
      </p:sp>
    </p:spTree>
    <p:extLst>
      <p:ext uri="{BB962C8B-B14F-4D97-AF65-F5344CB8AC3E}">
        <p14:creationId xmlns:p14="http://schemas.microsoft.com/office/powerpoint/2010/main" val="550912607"/>
      </p:ext>
    </p:extLst>
  </p:cSld>
  <p:clrMap bg1="lt1" tx1="dk1" bg2="lt2" tx2="dk2" accent1="accent1" accent2="accent2" accent3="accent3" accent4="accent4" accent5="accent5" accent6="accent6" hlink="hlink" folHlink="folHlink"/>
  <p:hf hdr="0"/>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Date Placeholder 3"/>
          <p:cNvSpPr>
            <a:spLocks noGrp="1"/>
          </p:cNvSpPr>
          <p:nvPr>
            <p:ph type="dt" idx="10"/>
          </p:nvPr>
        </p:nvSpPr>
        <p:spPr/>
        <p:txBody>
          <a:bodyPr/>
          <a:lstStyle/>
          <a:p>
            <a:fld id="{A8ADFD5B-A66C-449C-B6E8-FB716D07777D}" type="datetimeFigureOut">
              <a:rPr lang="en-US" smtClean="0"/>
              <a:pPr/>
              <a:t>2/3/2020</a:t>
            </a:fld>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Slide Number Placeholder 5"/>
          <p:cNvSpPr>
            <a:spLocks noGrp="1"/>
          </p:cNvSpPr>
          <p:nvPr>
            <p:ph type="sldNum" sz="quarter" idx="12"/>
          </p:nvPr>
        </p:nvSpPr>
        <p:spPr/>
        <p:txBody>
          <a:bodyPr/>
          <a:lstStyle/>
          <a:p>
            <a:fld id="{CA5D3BF3-D352-46FC-8343-31F56E6730E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a:t>
            </a:fld>
            <a:endParaRPr lang="en-US" dirty="0"/>
          </a:p>
        </p:txBody>
      </p:sp>
    </p:spTree>
    <p:extLst>
      <p:ext uri="{BB962C8B-B14F-4D97-AF65-F5344CB8AC3E}">
        <p14:creationId xmlns:p14="http://schemas.microsoft.com/office/powerpoint/2010/main" val="226949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3</a:t>
            </a:fld>
            <a:endParaRPr lang="en-US" dirty="0"/>
          </a:p>
        </p:txBody>
      </p:sp>
    </p:spTree>
    <p:extLst>
      <p:ext uri="{BB962C8B-B14F-4D97-AF65-F5344CB8AC3E}">
        <p14:creationId xmlns:p14="http://schemas.microsoft.com/office/powerpoint/2010/main" val="2627153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4</a:t>
            </a:fld>
            <a:endParaRPr lang="en-US" dirty="0"/>
          </a:p>
        </p:txBody>
      </p:sp>
    </p:spTree>
    <p:extLst>
      <p:ext uri="{BB962C8B-B14F-4D97-AF65-F5344CB8AC3E}">
        <p14:creationId xmlns:p14="http://schemas.microsoft.com/office/powerpoint/2010/main" val="2986653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5</a:t>
            </a:fld>
            <a:endParaRPr lang="en-US" dirty="0"/>
          </a:p>
        </p:txBody>
      </p:sp>
    </p:spTree>
    <p:extLst>
      <p:ext uri="{BB962C8B-B14F-4D97-AF65-F5344CB8AC3E}">
        <p14:creationId xmlns:p14="http://schemas.microsoft.com/office/powerpoint/2010/main" val="11521413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6</a:t>
            </a:fld>
            <a:endParaRPr lang="en-US" dirty="0"/>
          </a:p>
        </p:txBody>
      </p:sp>
    </p:spTree>
    <p:extLst>
      <p:ext uri="{BB962C8B-B14F-4D97-AF65-F5344CB8AC3E}">
        <p14:creationId xmlns:p14="http://schemas.microsoft.com/office/powerpoint/2010/main" val="1510292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7</a:t>
            </a:fld>
            <a:endParaRPr lang="en-US" dirty="0"/>
          </a:p>
        </p:txBody>
      </p:sp>
    </p:spTree>
    <p:extLst>
      <p:ext uri="{BB962C8B-B14F-4D97-AF65-F5344CB8AC3E}">
        <p14:creationId xmlns:p14="http://schemas.microsoft.com/office/powerpoint/2010/main" val="25724490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8</a:t>
            </a:fld>
            <a:endParaRPr lang="en-US" dirty="0"/>
          </a:p>
        </p:txBody>
      </p:sp>
    </p:spTree>
    <p:extLst>
      <p:ext uri="{BB962C8B-B14F-4D97-AF65-F5344CB8AC3E}">
        <p14:creationId xmlns:p14="http://schemas.microsoft.com/office/powerpoint/2010/main" val="1711216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9</a:t>
            </a:fld>
            <a:endParaRPr lang="en-US" dirty="0"/>
          </a:p>
        </p:txBody>
      </p:sp>
    </p:spTree>
    <p:extLst>
      <p:ext uri="{BB962C8B-B14F-4D97-AF65-F5344CB8AC3E}">
        <p14:creationId xmlns:p14="http://schemas.microsoft.com/office/powerpoint/2010/main" val="3976260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10</a:t>
            </a:fld>
            <a:endParaRPr lang="en-US" dirty="0"/>
          </a:p>
        </p:txBody>
      </p:sp>
    </p:spTree>
    <p:extLst>
      <p:ext uri="{BB962C8B-B14F-4D97-AF65-F5344CB8AC3E}">
        <p14:creationId xmlns:p14="http://schemas.microsoft.com/office/powerpoint/2010/main" val="2473591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11</a:t>
            </a:fld>
            <a:endParaRPr lang="en-US" dirty="0"/>
          </a:p>
        </p:txBody>
      </p:sp>
    </p:spTree>
    <p:extLst>
      <p:ext uri="{BB962C8B-B14F-4D97-AF65-F5344CB8AC3E}">
        <p14:creationId xmlns:p14="http://schemas.microsoft.com/office/powerpoint/2010/main" val="21429195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12</a:t>
            </a:fld>
            <a:endParaRPr lang="en-US" dirty="0"/>
          </a:p>
        </p:txBody>
      </p:sp>
    </p:spTree>
    <p:extLst>
      <p:ext uri="{BB962C8B-B14F-4D97-AF65-F5344CB8AC3E}">
        <p14:creationId xmlns:p14="http://schemas.microsoft.com/office/powerpoint/2010/main" val="1178082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13</a:t>
            </a:fld>
            <a:endParaRPr lang="en-US" dirty="0"/>
          </a:p>
        </p:txBody>
      </p:sp>
    </p:spTree>
    <p:extLst>
      <p:ext uri="{BB962C8B-B14F-4D97-AF65-F5344CB8AC3E}">
        <p14:creationId xmlns:p14="http://schemas.microsoft.com/office/powerpoint/2010/main" val="7207044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14</a:t>
            </a:fld>
            <a:endParaRPr lang="en-US" dirty="0"/>
          </a:p>
        </p:txBody>
      </p:sp>
    </p:spTree>
    <p:extLst>
      <p:ext uri="{BB962C8B-B14F-4D97-AF65-F5344CB8AC3E}">
        <p14:creationId xmlns:p14="http://schemas.microsoft.com/office/powerpoint/2010/main" val="217889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15</a:t>
            </a:fld>
            <a:endParaRPr lang="en-US" dirty="0"/>
          </a:p>
        </p:txBody>
      </p:sp>
    </p:spTree>
    <p:extLst>
      <p:ext uri="{BB962C8B-B14F-4D97-AF65-F5344CB8AC3E}">
        <p14:creationId xmlns:p14="http://schemas.microsoft.com/office/powerpoint/2010/main" val="4039919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16</a:t>
            </a:fld>
            <a:endParaRPr lang="en-US" dirty="0"/>
          </a:p>
        </p:txBody>
      </p:sp>
    </p:spTree>
    <p:extLst>
      <p:ext uri="{BB962C8B-B14F-4D97-AF65-F5344CB8AC3E}">
        <p14:creationId xmlns:p14="http://schemas.microsoft.com/office/powerpoint/2010/main" val="10347563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17</a:t>
            </a:fld>
            <a:endParaRPr lang="en-US" dirty="0"/>
          </a:p>
        </p:txBody>
      </p:sp>
    </p:spTree>
    <p:extLst>
      <p:ext uri="{BB962C8B-B14F-4D97-AF65-F5344CB8AC3E}">
        <p14:creationId xmlns:p14="http://schemas.microsoft.com/office/powerpoint/2010/main" val="12683228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18</a:t>
            </a:fld>
            <a:endParaRPr lang="en-US" dirty="0"/>
          </a:p>
        </p:txBody>
      </p:sp>
    </p:spTree>
    <p:extLst>
      <p:ext uri="{BB962C8B-B14F-4D97-AF65-F5344CB8AC3E}">
        <p14:creationId xmlns:p14="http://schemas.microsoft.com/office/powerpoint/2010/main" val="36018662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19</a:t>
            </a:fld>
            <a:endParaRPr lang="en-US" dirty="0"/>
          </a:p>
        </p:txBody>
      </p:sp>
    </p:spTree>
    <p:extLst>
      <p:ext uri="{BB962C8B-B14F-4D97-AF65-F5344CB8AC3E}">
        <p14:creationId xmlns:p14="http://schemas.microsoft.com/office/powerpoint/2010/main" val="27250660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20</a:t>
            </a:fld>
            <a:endParaRPr lang="en-US" dirty="0"/>
          </a:p>
        </p:txBody>
      </p:sp>
    </p:spTree>
    <p:extLst>
      <p:ext uri="{BB962C8B-B14F-4D97-AF65-F5344CB8AC3E}">
        <p14:creationId xmlns:p14="http://schemas.microsoft.com/office/powerpoint/2010/main" val="1590218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2/3/2020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21</a:t>
            </a:fld>
            <a:endParaRPr lang="en-US" dirty="0"/>
          </a:p>
        </p:txBody>
      </p:sp>
    </p:spTree>
    <p:extLst>
      <p:ext uri="{BB962C8B-B14F-4D97-AF65-F5344CB8AC3E}">
        <p14:creationId xmlns:p14="http://schemas.microsoft.com/office/powerpoint/2010/main" val="2485534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2/4/2020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22</a:t>
            </a:fld>
            <a:endParaRPr lang="en-US" dirty="0"/>
          </a:p>
        </p:txBody>
      </p:sp>
    </p:spTree>
    <p:extLst>
      <p:ext uri="{BB962C8B-B14F-4D97-AF65-F5344CB8AC3E}">
        <p14:creationId xmlns:p14="http://schemas.microsoft.com/office/powerpoint/2010/main" val="26549426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2/4/2020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23</a:t>
            </a:fld>
            <a:endParaRPr lang="en-US" dirty="0"/>
          </a:p>
        </p:txBody>
      </p:sp>
    </p:spTree>
    <p:extLst>
      <p:ext uri="{BB962C8B-B14F-4D97-AF65-F5344CB8AC3E}">
        <p14:creationId xmlns:p14="http://schemas.microsoft.com/office/powerpoint/2010/main" val="2006999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CIA Group, NIT Silchar</a:t>
            </a:r>
          </a:p>
        </p:txBody>
      </p:sp>
      <p:sp>
        <p:nvSpPr>
          <p:cNvPr id="6" name="Date Placeholder 5"/>
          <p:cNvSpPr>
            <a:spLocks noGrp="1"/>
          </p:cNvSpPr>
          <p:nvPr>
            <p:ph type="dt" idx="12"/>
          </p:nvPr>
        </p:nvSpPr>
        <p:spPr/>
        <p:txBody>
          <a:bodyPr/>
          <a:lstStyle/>
          <a:p>
            <a:fld id="{C3F1FA67-A8D0-4FF4-9D27-B2B78F3F7DCF}" type="datetime1">
              <a:rPr lang="en-US" smtClean="0"/>
              <a:pPr/>
              <a:t>2/4/2020</a:t>
            </a:fld>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24</a:t>
            </a:fld>
            <a:endParaRPr lang="en-US" dirty="0"/>
          </a:p>
        </p:txBody>
      </p:sp>
    </p:spTree>
    <p:extLst>
      <p:ext uri="{BB962C8B-B14F-4D97-AF65-F5344CB8AC3E}">
        <p14:creationId xmlns:p14="http://schemas.microsoft.com/office/powerpoint/2010/main" val="31341142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5" name="Date Placeholder 4"/>
          <p:cNvSpPr>
            <a:spLocks noGrp="1"/>
          </p:cNvSpPr>
          <p:nvPr>
            <p:ph type="dt" idx="11"/>
          </p:nvPr>
        </p:nvSpPr>
        <p:spPr/>
        <p:txBody>
          <a:bodyPr/>
          <a:lstStyle/>
          <a:p>
            <a:fld id="{8B4435BD-B0AE-4783-8DAA-2C1BEA779722}" type="datetime1">
              <a:rPr lang="en-US" smtClean="0"/>
              <a:pPr/>
              <a:t>2/3/2020</a:t>
            </a:fld>
            <a:endParaRPr lang="en-US" dirty="0"/>
          </a:p>
        </p:txBody>
      </p:sp>
      <p:sp>
        <p:nvSpPr>
          <p:cNvPr id="6" name="Footer Placeholder 5"/>
          <p:cNvSpPr>
            <a:spLocks noGrp="1"/>
          </p:cNvSpPr>
          <p:nvPr>
            <p:ph type="ftr" sz="quarter" idx="12"/>
          </p:nvPr>
        </p:nvSpPr>
        <p:spPr/>
        <p:txBody>
          <a:bodyPr/>
          <a:lstStyle/>
          <a:p>
            <a:r>
              <a:rPr lang="en-US"/>
              <a:t>CIA Group, NIT Silchar</a:t>
            </a:r>
            <a:endParaRPr lang="en-US" dirty="0"/>
          </a:p>
        </p:txBody>
      </p:sp>
      <p:sp>
        <p:nvSpPr>
          <p:cNvPr id="7" name="Slide Number Placeholder 6"/>
          <p:cNvSpPr>
            <a:spLocks noGrp="1"/>
          </p:cNvSpPr>
          <p:nvPr>
            <p:ph type="sldNum" sz="quarter" idx="13"/>
          </p:nvPr>
        </p:nvSpPr>
        <p:spPr/>
        <p:txBody>
          <a:bodyPr/>
          <a:lstStyle/>
          <a:p>
            <a:fld id="{CA5D3BF3-D352-46FC-8343-31F56E6730EA}" type="slidenum">
              <a:rPr lang="en-US" smtClean="0"/>
              <a:pPr/>
              <a:t>25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fld id="{7D9E0201-1172-46A8-B449-C16CA273C4C0}" type="datetime1">
              <a:rPr lang="en-US" smtClean="0">
                <a:solidFill>
                  <a:srgbClr val="FFFFFF"/>
                </a:solidFill>
              </a:rPr>
              <a:pPr algn="ctr"/>
              <a:t>2/3/2020</a:t>
            </a:fld>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r>
              <a:rPr lang="sv-SE">
                <a:solidFill>
                  <a:schemeClr val="tx2"/>
                </a:solidFill>
              </a:rPr>
              <a:t>Comprehensive Examination</a:t>
            </a: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A4E6CF04-9D38-4138-96FE-8590975F0570}" type="datetime1">
              <a:rPr lang="en-US" smtClean="0"/>
              <a:pPr/>
              <a:t>2/3/2020</a:t>
            </a:fld>
            <a:endParaRPr lang="en-US" dirty="0"/>
          </a:p>
        </p:txBody>
      </p:sp>
      <p:sp>
        <p:nvSpPr>
          <p:cNvPr id="4" name="Rectangle 3"/>
          <p:cNvSpPr>
            <a:spLocks noGrp="1"/>
          </p:cNvSpPr>
          <p:nvPr>
            <p:ph type="ftr" sz="quarter" idx="11"/>
          </p:nvPr>
        </p:nvSpPr>
        <p:spPr/>
        <p:txBody>
          <a:bodyPr/>
          <a:lstStyle/>
          <a:p>
            <a:r>
              <a:rPr lang="sv-SE"/>
              <a:t>Comprehensive Examination</a:t>
            </a:r>
            <a:endParaRPr lang="en-US" dirty="0"/>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dirty="0"/>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3EE80BA6-F9BC-4237-A171-55B2A5EA49AC}" type="datetime1">
              <a:rPr lang="en-US" smtClean="0"/>
              <a:pPr/>
              <a:t>2/3/2020</a:t>
            </a:fld>
            <a:endParaRPr lang="en-US" dirty="0"/>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r>
              <a:rPr lang="sv-SE"/>
              <a:t>Comprehensive Examination</a:t>
            </a:r>
            <a:endParaRPr lang="en-US" dirty="0"/>
          </a:p>
        </p:txBody>
      </p:sp>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7BB07DAD-E28C-4101-A1A4-96E7BC35467B}" type="datetime1">
              <a:rPr lang="en-US" smtClean="0"/>
              <a:pPr/>
              <a:t>2/3/2020</a:t>
            </a:fld>
            <a:endParaRPr lang="en-US" dirty="0"/>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dirty="0"/>
          </a:p>
        </p:txBody>
      </p:sp>
      <p:sp>
        <p:nvSpPr>
          <p:cNvPr id="12" name="Footer Placeholder 11"/>
          <p:cNvSpPr>
            <a:spLocks noGrp="1"/>
          </p:cNvSpPr>
          <p:nvPr>
            <p:ph type="ftr" sz="quarter" idx="17"/>
          </p:nvPr>
        </p:nvSpPr>
        <p:spPr/>
        <p:txBody>
          <a:bodyPr rtlCol="0"/>
          <a:lstStyle/>
          <a:p>
            <a:r>
              <a:rPr lang="sv-SE"/>
              <a:t>Comprehensive Examination</a:t>
            </a:r>
            <a:endParaRPr lang="en-US" dirty="0"/>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6D69AE0B-12EF-42DE-B742-20E75D13F465}" type="datetime1">
              <a:rPr lang="en-US" smtClean="0"/>
              <a:pPr/>
              <a:t>2/3/2020</a:t>
            </a:fld>
            <a:endParaRPr lang="en-US" dirty="0"/>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dirty="0"/>
          </a:p>
        </p:txBody>
      </p:sp>
      <p:sp>
        <p:nvSpPr>
          <p:cNvPr id="14" name="Footer Placeholder 13"/>
          <p:cNvSpPr>
            <a:spLocks noGrp="1"/>
          </p:cNvSpPr>
          <p:nvPr>
            <p:ph type="ftr" sz="quarter" idx="17"/>
          </p:nvPr>
        </p:nvSpPr>
        <p:spPr/>
        <p:txBody>
          <a:bodyPr rtlCol="0"/>
          <a:lstStyle/>
          <a:p>
            <a:r>
              <a:rPr lang="sv-SE"/>
              <a:t>Comprehensive Examination</a:t>
            </a:r>
            <a:endParaRPr lang="en-US" dirty="0"/>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A20636-CDAB-48CF-9828-BF9910A1BB53}" type="datetime1">
              <a:rPr lang="en-US" smtClean="0"/>
              <a:pPr/>
              <a:t>2/3/2020</a:t>
            </a:fld>
            <a:endParaRPr lang="en-US" dirty="0"/>
          </a:p>
        </p:txBody>
      </p:sp>
      <p:sp>
        <p:nvSpPr>
          <p:cNvPr id="4" name="Footer Placeholder 3"/>
          <p:cNvSpPr>
            <a:spLocks noGrp="1"/>
          </p:cNvSpPr>
          <p:nvPr>
            <p:ph type="ftr" sz="quarter" idx="11"/>
          </p:nvPr>
        </p:nvSpPr>
        <p:spPr/>
        <p:txBody>
          <a:bodyPr/>
          <a:lstStyle/>
          <a:p>
            <a:r>
              <a:rPr lang="sv-SE"/>
              <a:t>Comprehensive Examination</a:t>
            </a:r>
            <a:endParaRPr lang="en-US" dirty="0"/>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78649A-142D-4661-9B46-41CD3A9827AE}" type="datetime1">
              <a:rPr lang="en-US" smtClean="0"/>
              <a:pPr/>
              <a:t>2/3/2020</a:t>
            </a:fld>
            <a:endParaRPr lang="en-US" dirty="0"/>
          </a:p>
        </p:txBody>
      </p:sp>
      <p:sp>
        <p:nvSpPr>
          <p:cNvPr id="3" name="Footer Placeholder 2"/>
          <p:cNvSpPr>
            <a:spLocks noGrp="1"/>
          </p:cNvSpPr>
          <p:nvPr>
            <p:ph type="ftr" sz="quarter" idx="11"/>
          </p:nvPr>
        </p:nvSpPr>
        <p:spPr/>
        <p:txBody>
          <a:bodyPr/>
          <a:lstStyle/>
          <a:p>
            <a:r>
              <a:rPr lang="sv-SE"/>
              <a:t>Comprehensive Examination</a:t>
            </a:r>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A1AFF55C-8DA9-42A6-9B12-54705FFFEF92}" type="datetime1">
              <a:rPr lang="en-US" smtClean="0"/>
              <a:pPr/>
              <a:t>2/3/2020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dirty="0"/>
              <a:t>Click icon to add picture</a:t>
            </a:r>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12" name="Date Placeholder 11"/>
          <p:cNvSpPr>
            <a:spLocks noGrp="1"/>
          </p:cNvSpPr>
          <p:nvPr>
            <p:ph type="dt" sz="half" idx="10"/>
          </p:nvPr>
        </p:nvSpPr>
        <p:spPr>
          <a:xfrm>
            <a:off x="6248400" y="4686300"/>
            <a:ext cx="2667000" cy="273844"/>
          </a:xfrm>
        </p:spPr>
        <p:txBody>
          <a:bodyPr rtlCol="0"/>
          <a:lstStyle/>
          <a:p>
            <a:fld id="{DC3FF209-DE36-4729-95CB-0AA76895932A}" type="datetime1">
              <a:rPr lang="en-US" smtClean="0"/>
              <a:pPr/>
              <a:t>2/3/2020</a:t>
            </a:fld>
            <a:endParaRPr lang="en-US" dirty="0"/>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r>
              <a:rPr lang="sv-SE"/>
              <a:t>Comprehensive Examination</a:t>
            </a:r>
            <a:endParaRPr lang="en-US" dirty="0"/>
          </a:p>
        </p:txBody>
      </p:sp>
    </p:spTree>
  </p:cSld>
  <p:clrMapOvr>
    <a:overrideClrMapping bg1="dk1" tx1="lt1" bg2="dk2" tx2="lt2" accent1="accent1" accent2="accent2" accent3="accent3" accent4="accent4" accent5="accent5" accent6="accent6" hlink="hlink" folHlink="folHlink"/>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269923"/>
            <a:ext cx="7406640" cy="1104138"/>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387548"/>
            <a:ext cx="7406640" cy="131445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pPr algn="ctr"/>
            <a:fld id="{67CD7FE0-7A06-4323-A633-093765BF90D0}" type="datetime1">
              <a:rPr lang="en-US" smtClean="0">
                <a:solidFill>
                  <a:srgbClr val="FFFFFF"/>
                </a:solidFill>
              </a:rPr>
              <a:pPr algn="ctr"/>
              <a:t>2/3/2020</a:t>
            </a:fld>
            <a:endParaRPr lang="en-US" sz="2000" dirty="0">
              <a:solidFill>
                <a:srgbClr val="FFFFFF"/>
              </a:solidFill>
            </a:endParaRPr>
          </a:p>
        </p:txBody>
      </p:sp>
      <p:sp>
        <p:nvSpPr>
          <p:cNvPr id="20" name="Footer Placeholder 19"/>
          <p:cNvSpPr>
            <a:spLocks noGrp="1"/>
          </p:cNvSpPr>
          <p:nvPr>
            <p:ph type="ftr" sz="quarter" idx="11"/>
          </p:nvPr>
        </p:nvSpPr>
        <p:spPr/>
        <p:txBody>
          <a:bodyPr/>
          <a:lstStyle/>
          <a:p>
            <a:pPr algn="r"/>
            <a:r>
              <a:rPr lang="sv-SE">
                <a:solidFill>
                  <a:schemeClr val="tx2"/>
                </a:solidFill>
              </a:rPr>
              <a:t>Comprehensive Examination</a:t>
            </a:r>
            <a:endParaRPr lang="en-US" dirty="0">
              <a:solidFill>
                <a:schemeClr val="tx2"/>
              </a:solidFill>
            </a:endParaRPr>
          </a:p>
        </p:txBody>
      </p:sp>
      <p:sp>
        <p:nvSpPr>
          <p:cNvPr id="10" name="Slide Number Placeholder 9"/>
          <p:cNvSpPr>
            <a:spLocks noGrp="1"/>
          </p:cNvSpPr>
          <p:nvPr>
            <p:ph type="sldNum" sz="quarter" idx="12"/>
          </p:nvPr>
        </p:nvSpPr>
        <p:spPr/>
        <p:txBody>
          <a:bodyPr/>
          <a:lstStyle/>
          <a:p>
            <a:fld id="{8F82E0A0-C266-4798-8C8F-B9F91E9DA37E}" type="slidenum">
              <a:rPr lang="en-US" smtClean="0">
                <a:solidFill>
                  <a:schemeClr val="tx2"/>
                </a:solidFill>
              </a:rPr>
              <a:pPr/>
              <a:t>‹#›</a:t>
            </a:fld>
            <a:endParaRPr lang="en-US" dirty="0">
              <a:solidFill>
                <a:schemeClr val="tx2"/>
              </a:solidFill>
            </a:endParaRPr>
          </a:p>
        </p:txBody>
      </p:sp>
      <p:sp>
        <p:nvSpPr>
          <p:cNvPr id="8" name="Oval 7"/>
          <p:cNvSpPr/>
          <p:nvPr/>
        </p:nvSpPr>
        <p:spPr>
          <a:xfrm>
            <a:off x="921433" y="106035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008762"/>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lvl1pPr>
              <a:defRPr>
                <a:solidFill>
                  <a:schemeClr val="tx1"/>
                </a:solidFill>
                <a:latin typeface="Arial Black" pitchFamily="34" charset="0"/>
              </a:defRPr>
            </a:lvl1pPr>
            <a:extLst/>
          </a:lstStyle>
          <a:p>
            <a:fld id="{E25FD23A-F8F8-4D69-A395-0AF2E89CE2FE}" type="datetime1">
              <a:rPr lang="en-US" smtClean="0"/>
              <a:pPr/>
              <a:t>2/3/2020</a:t>
            </a:fld>
            <a:endParaRPr lang="en-US"/>
          </a:p>
        </p:txBody>
      </p:sp>
      <p:sp>
        <p:nvSpPr>
          <p:cNvPr id="5" name="Footer Placeholder 4"/>
          <p:cNvSpPr>
            <a:spLocks noGrp="1"/>
          </p:cNvSpPr>
          <p:nvPr>
            <p:ph type="ftr" sz="quarter" idx="11"/>
          </p:nvPr>
        </p:nvSpPr>
        <p:spPr/>
        <p:txBody>
          <a:bodyPr/>
          <a:lstStyle>
            <a:lvl1pPr>
              <a:defRPr>
                <a:solidFill>
                  <a:schemeClr val="tx1"/>
                </a:solidFill>
                <a:latin typeface="Arial Black" pitchFamily="34" charset="0"/>
              </a:defRPr>
            </a:lvl1pPr>
            <a:extLst/>
          </a:lstStyle>
          <a:p>
            <a:r>
              <a:rPr lang="sv-SE"/>
              <a:t>Comprehensive Examination</a:t>
            </a:r>
            <a:endParaRPr lang="en-US" dirty="0"/>
          </a:p>
        </p:txBody>
      </p:sp>
      <p:sp>
        <p:nvSpPr>
          <p:cNvPr id="6" name="Slide Number Placeholder 5"/>
          <p:cNvSpPr>
            <a:spLocks noGrp="1"/>
          </p:cNvSpPr>
          <p:nvPr>
            <p:ph type="sldNum" sz="quarter" idx="12"/>
          </p:nvPr>
        </p:nvSpPr>
        <p:spPr/>
        <p:txBody>
          <a:bodyPr/>
          <a:lstStyle>
            <a:lvl1pPr>
              <a:defRPr>
                <a:solidFill>
                  <a:schemeClr val="tx1"/>
                </a:solidFill>
                <a:latin typeface="Arial Black" pitchFamily="34" charset="0"/>
              </a:defRPr>
            </a:lvl1pPr>
            <a:extLst/>
          </a:lstStyle>
          <a:p>
            <a:fld id="{8379391B-7504-45C9-9DE3-8766B2043D5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41"/>
            <a:ext cx="6858000"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1950244"/>
            <a:ext cx="6400800" cy="17145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800100"/>
            <a:ext cx="6400800" cy="1132284"/>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B84E1A9-E001-42AC-A12F-6AE7E6ACAE3C}" type="datetime1">
              <a:rPr lang="en-US" smtClean="0"/>
              <a:pPr/>
              <a:t>2/3/2020</a:t>
            </a:fld>
            <a:endParaRPr lang="en-US" dirty="0"/>
          </a:p>
        </p:txBody>
      </p:sp>
      <p:sp>
        <p:nvSpPr>
          <p:cNvPr id="5" name="Footer Placeholder 4"/>
          <p:cNvSpPr>
            <a:spLocks noGrp="1"/>
          </p:cNvSpPr>
          <p:nvPr>
            <p:ph type="ftr" sz="quarter" idx="11"/>
          </p:nvPr>
        </p:nvSpPr>
        <p:spPr/>
        <p:txBody>
          <a:bodyPr/>
          <a:lstStyle/>
          <a:p>
            <a:r>
              <a:rPr lang="sv-SE"/>
              <a:t>Comprehensive Examination</a:t>
            </a:r>
            <a:endParaRPr lang="en-US" dirty="0"/>
          </a:p>
        </p:txBody>
      </p:sp>
      <p:sp>
        <p:nvSpPr>
          <p:cNvPr id="6" name="Slide Number Placeholder 5"/>
          <p:cNvSpPr>
            <a:spLocks noGrp="1"/>
          </p:cNvSpPr>
          <p:nvPr>
            <p:ph type="sldNum" sz="quarter" idx="12"/>
          </p:nvPr>
        </p:nvSpPr>
        <p:spPr/>
        <p:txBody>
          <a:bodyPr/>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0" name="Rectangle 9"/>
          <p:cNvSpPr/>
          <p:nvPr/>
        </p:nvSpPr>
        <p:spPr bwMode="invGray">
          <a:xfrm>
            <a:off x="2286000" y="0"/>
            <a:ext cx="76200"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110992"/>
            <a:ext cx="210312" cy="157734"/>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059403"/>
            <a:ext cx="64008" cy="48006"/>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lstStyle/>
          <a:p>
            <a:r>
              <a:rPr kumimoji="0" lang="en-US"/>
              <a:t>Click to edit Master title style</a:t>
            </a:r>
          </a:p>
        </p:txBody>
      </p:sp>
      <p:sp>
        <p:nvSpPr>
          <p:cNvPr id="3" name="Content Placeholder 2"/>
          <p:cNvSpPr>
            <a:spLocks noGrp="1"/>
          </p:cNvSpPr>
          <p:nvPr>
            <p:ph sz="half" idx="1"/>
          </p:nvPr>
        </p:nvSpPr>
        <p:spPr>
          <a:xfrm>
            <a:off x="143560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143000"/>
            <a:ext cx="3657600" cy="34975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FBC0CAF-2C82-460F-90D1-C2C7BBC7E712}" type="datetime1">
              <a:rPr lang="en-US" smtClean="0"/>
              <a:pPr/>
              <a:t>2/3/2020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dirty="0"/>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870252"/>
            <a:ext cx="8229600" cy="85725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246209"/>
            <a:ext cx="4023360" cy="48006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727002"/>
            <a:ext cx="4023360" cy="30861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F8889E26-1FCC-4B3F-B660-C2B03C75462E}" type="datetime1">
              <a:rPr lang="en-US" smtClean="0"/>
              <a:pPr/>
              <a:t>2/3/2020</a:t>
            </a:fld>
            <a:endParaRPr lang="en-US" dirty="0"/>
          </a:p>
        </p:txBody>
      </p:sp>
      <p:sp>
        <p:nvSpPr>
          <p:cNvPr id="8" name="Footer Placeholder 7"/>
          <p:cNvSpPr>
            <a:spLocks noGrp="1"/>
          </p:cNvSpPr>
          <p:nvPr>
            <p:ph type="ftr" sz="quarter" idx="11"/>
          </p:nvPr>
        </p:nvSpPr>
        <p:spPr/>
        <p:txBody>
          <a:bodyPr/>
          <a:lstStyle/>
          <a:p>
            <a:r>
              <a:rPr lang="sv-SE"/>
              <a:t>Comprehensive Examination</a:t>
            </a:r>
            <a:endParaRPr lang="en-US" dirty="0"/>
          </a:p>
        </p:txBody>
      </p:sp>
      <p:sp>
        <p:nvSpPr>
          <p:cNvPr id="9" name="Slide Number Placeholder 8"/>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dirty="0"/>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05740"/>
            <a:ext cx="7498080" cy="85725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C7AAF2D-C4FA-4AD1-B9C5-541A2E6970C2}" type="datetime1">
              <a:rPr lang="en-US" smtClean="0"/>
              <a:pPr/>
              <a:t>2/3/2020</a:t>
            </a:fld>
            <a:endParaRPr lang="en-US" dirty="0"/>
          </a:p>
        </p:txBody>
      </p:sp>
      <p:sp>
        <p:nvSpPr>
          <p:cNvPr id="4" name="Footer Placeholder 3"/>
          <p:cNvSpPr>
            <a:spLocks noGrp="1"/>
          </p:cNvSpPr>
          <p:nvPr>
            <p:ph type="ftr" sz="quarter" idx="11"/>
          </p:nvPr>
        </p:nvSpPr>
        <p:spPr/>
        <p:txBody>
          <a:bodyPr/>
          <a:lstStyle/>
          <a:p>
            <a:r>
              <a:rPr lang="sv-SE"/>
              <a:t>Comprehensive Examination</a:t>
            </a:r>
            <a:endParaRPr lang="en-US" dirty="0"/>
          </a:p>
        </p:txBody>
      </p:sp>
      <p:sp>
        <p:nvSpPr>
          <p:cNvPr id="5" name="Slide Number Placeholder 4"/>
          <p:cNvSpPr>
            <a:spLocks noGrp="1"/>
          </p:cNvSpPr>
          <p:nvPr>
            <p:ph type="sldNum" sz="quarter" idx="12"/>
          </p:nvPr>
        </p:nvSpPr>
        <p:spPr/>
        <p:txBody>
          <a:bodyPr/>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51435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073B0D40-64F2-4F15-9F14-A1518D69498A}" type="datetime1">
              <a:rPr lang="en-US" smtClean="0"/>
              <a:pPr/>
              <a:t>2/3/2020</a:t>
            </a:fld>
            <a:endParaRPr lang="en-US" dirty="0"/>
          </a:p>
        </p:txBody>
      </p:sp>
      <p:sp>
        <p:nvSpPr>
          <p:cNvPr id="3" name="Footer Placeholder 2"/>
          <p:cNvSpPr>
            <a:spLocks noGrp="1"/>
          </p:cNvSpPr>
          <p:nvPr>
            <p:ph type="ftr" sz="quarter" idx="11"/>
          </p:nvPr>
        </p:nvSpPr>
        <p:spPr/>
        <p:txBody>
          <a:bodyPr/>
          <a:lstStyle/>
          <a:p>
            <a:r>
              <a:rPr lang="sv-SE"/>
              <a:t>Comprehensive Examination</a:t>
            </a:r>
            <a:endParaRPr lang="en-US" dirty="0"/>
          </a:p>
        </p:txBody>
      </p:sp>
      <p:sp>
        <p:nvSpPr>
          <p:cNvPr id="4" name="Slide Number Placeholder 3"/>
          <p:cNvSpPr>
            <a:spLocks noGrp="1"/>
          </p:cNvSpPr>
          <p:nvPr>
            <p:ph type="sldNum" sz="quarter" idx="12"/>
          </p:nvPr>
        </p:nvSpPr>
        <p:spPr/>
        <p:txBody>
          <a:bodyPr/>
          <a:lstStyle/>
          <a:p>
            <a:fld id="{A3F7CB7D-F184-43C7-B6FD-03D728E1BBFF}" type="slidenum">
              <a:rPr lang="en-US" smtClean="0">
                <a:solidFill>
                  <a:schemeClr val="tx2"/>
                </a:solidFill>
              </a:rPr>
              <a:pPr/>
              <a:t>‹#›</a:t>
            </a:fld>
            <a:endParaRPr lang="en-US" dirty="0">
              <a:solidFill>
                <a:schemeClr val="tx2"/>
              </a:solidFill>
            </a:endParaRPr>
          </a:p>
        </p:txBody>
      </p:sp>
      <p:sp>
        <p:nvSpPr>
          <p:cNvPr id="6" name="Rectangle 5"/>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62583"/>
            <a:ext cx="3810000" cy="871538"/>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055223"/>
            <a:ext cx="3810000" cy="523875"/>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1600201"/>
            <a:ext cx="8153400" cy="299442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E8EEF6F-9573-4DF5-91E4-4DE0B495F90F}" type="datetime1">
              <a:rPr lang="en-US" smtClean="0"/>
              <a:pPr/>
              <a:t>2/3/2020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800100"/>
            <a:ext cx="2743200" cy="14859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D542512-B60A-4109-B5B7-BD8026229EC1}" type="datetime1">
              <a:rPr lang="en-US" smtClean="0"/>
              <a:pPr/>
              <a:t>2/3/2020</a:t>
            </a:fld>
            <a:endParaRPr lang="en-US" dirty="0"/>
          </a:p>
        </p:txBody>
      </p:sp>
      <p:sp>
        <p:nvSpPr>
          <p:cNvPr id="6" name="Footer Placeholder 5"/>
          <p:cNvSpPr>
            <a:spLocks noGrp="1"/>
          </p:cNvSpPr>
          <p:nvPr>
            <p:ph type="ftr" sz="quarter" idx="11"/>
          </p:nvPr>
        </p:nvSpPr>
        <p:spPr/>
        <p:txBody>
          <a:bodyPr/>
          <a:lstStyle/>
          <a:p>
            <a:r>
              <a:rPr lang="sv-SE"/>
              <a:t>Comprehensive Examination</a:t>
            </a:r>
            <a:endParaRPr lang="en-US" dirty="0"/>
          </a:p>
        </p:txBody>
      </p:sp>
      <p:sp>
        <p:nvSpPr>
          <p:cNvPr id="7" name="Slide Number Placeholder 6"/>
          <p:cNvSpPr>
            <a:spLocks noGrp="1"/>
          </p:cNvSpPr>
          <p:nvPr>
            <p:ph type="sldNum" sz="quarter" idx="12"/>
          </p:nvPr>
        </p:nvSpPr>
        <p:spPr/>
        <p:txBody>
          <a:bodyPr/>
          <a:lstStyle/>
          <a:p>
            <a:pPr algn="ctr"/>
            <a:fld id="{8F82E0A0-C266-4798-8C8F-B9F91E9DA37E}" type="slidenum">
              <a:rPr lang="en-US" sz="2800" b="1" smtClean="0">
                <a:solidFill>
                  <a:srgbClr val="FFFFFF"/>
                </a:solidFill>
              </a:rPr>
              <a:pPr algn="ctr"/>
              <a:t>‹#›</a:t>
            </a:fld>
            <a:endParaRPr lang="en-US" sz="2800" dirty="0"/>
          </a:p>
        </p:txBody>
      </p:sp>
      <p:sp>
        <p:nvSpPr>
          <p:cNvPr id="8" name="Rectangle 7"/>
          <p:cNvSpPr/>
          <p:nvPr/>
        </p:nvSpPr>
        <p:spPr>
          <a:xfrm>
            <a:off x="762000" y="800100"/>
            <a:ext cx="4572000" cy="3429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857253"/>
            <a:ext cx="4419600" cy="2635898"/>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715756"/>
            <a:ext cx="685800"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702589"/>
            <a:ext cx="649224" cy="15323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3600450"/>
            <a:ext cx="4419600" cy="5715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82C59F6-45D1-4175-A54A-8AB8C4EE273E}" type="datetime1">
              <a:rPr lang="en-US" smtClean="0"/>
              <a:pPr/>
              <a:t>2/3/2020</a:t>
            </a:fld>
            <a:endParaRPr lang="en-US" sz="1400" dirty="0">
              <a:solidFill>
                <a:schemeClr val="tx2"/>
              </a:solidFill>
            </a:endParaRPr>
          </a:p>
        </p:txBody>
      </p:sp>
      <p:sp>
        <p:nvSpPr>
          <p:cNvPr id="5" name="Footer Placeholder 4"/>
          <p:cNvSpPr>
            <a:spLocks noGrp="1"/>
          </p:cNvSpPr>
          <p:nvPr>
            <p:ph type="ftr" sz="quarter" idx="11"/>
          </p:nvPr>
        </p:nvSpPr>
        <p:spPr/>
        <p:txBody>
          <a:bodyPr/>
          <a:lstStyle/>
          <a:p>
            <a:pPr algn="r"/>
            <a:r>
              <a:rPr lang="sv-SE" sz="1400">
                <a:solidFill>
                  <a:schemeClr val="tx2"/>
                </a:solidFill>
              </a:rPr>
              <a:t>Comprehensive Examination</a:t>
            </a:r>
            <a:endParaRPr lang="en-US" sz="1400" dirty="0">
              <a:solidFill>
                <a:schemeClr val="tx2"/>
              </a:solidFill>
            </a:endParaRPr>
          </a:p>
        </p:txBody>
      </p:sp>
      <p:sp>
        <p:nvSpPr>
          <p:cNvPr id="6" name="Slide Number Placeholder 5"/>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05979"/>
            <a:ext cx="1828800" cy="4388644"/>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05980"/>
            <a:ext cx="5562600" cy="438864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A9AC681-2384-4687-86E8-D9B3D82CEF60}" type="datetime1">
              <a:rPr lang="en-US" smtClean="0"/>
              <a:pPr/>
              <a:t>2/3/2020</a:t>
            </a:fld>
            <a:endParaRPr lang="en-US" sz="1400" dirty="0">
              <a:solidFill>
                <a:schemeClr val="tx2"/>
              </a:solidFill>
            </a:endParaRPr>
          </a:p>
        </p:txBody>
      </p:sp>
      <p:sp>
        <p:nvSpPr>
          <p:cNvPr id="5" name="Footer Placeholder 4"/>
          <p:cNvSpPr>
            <a:spLocks noGrp="1"/>
          </p:cNvSpPr>
          <p:nvPr>
            <p:ph type="ftr" sz="quarter" idx="11"/>
          </p:nvPr>
        </p:nvSpPr>
        <p:spPr/>
        <p:txBody>
          <a:bodyPr/>
          <a:lstStyle/>
          <a:p>
            <a:pPr algn="r"/>
            <a:r>
              <a:rPr lang="sv-SE" sz="1400">
                <a:solidFill>
                  <a:schemeClr val="tx2"/>
                </a:solidFill>
              </a:rPr>
              <a:t>Comprehensive Examination</a:t>
            </a:r>
            <a:endParaRPr lang="en-US" sz="1400" dirty="0">
              <a:solidFill>
                <a:schemeClr val="tx2"/>
              </a:solidFill>
            </a:endParaRPr>
          </a:p>
        </p:txBody>
      </p:sp>
      <p:sp>
        <p:nvSpPr>
          <p:cNvPr id="6" name="Slide Number Placeholder 5"/>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fld id="{DA7DA67F-3754-43B5-87B0-B6D0DE63B7D4}" type="datetime1">
              <a:rPr lang="en-US" smtClean="0"/>
              <a:pPr/>
              <a:t>2/3/2020</a:t>
            </a:fld>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r>
              <a:rPr lang="sv-SE" sz="1400">
                <a:solidFill>
                  <a:schemeClr val="tx2"/>
                </a:solidFill>
              </a:rPr>
              <a:t>Comprehensive Examination</a:t>
            </a: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dirty="0"/>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fade/>
  </p:transition>
  <p:hf hdr="0"/>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611941"/>
            <a:ext cx="1638887" cy="1229165"/>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7" y="15827"/>
            <a:ext cx="1702191" cy="127664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791308"/>
            <a:ext cx="1125717" cy="826968"/>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41"/>
            <a:ext cx="8131127" cy="5143541"/>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05978"/>
            <a:ext cx="7498080" cy="85725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085850"/>
            <a:ext cx="7498080" cy="360045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4729162"/>
            <a:ext cx="2133600" cy="357188"/>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D91CAD21-3FB9-4A34-A2B6-4B037A24C587}" type="datetime1">
              <a:rPr lang="en-US" smtClean="0"/>
              <a:pPr/>
              <a:t>2/3/2020</a:t>
            </a:fld>
            <a:endParaRPr lang="en-US" sz="1400" dirty="0">
              <a:solidFill>
                <a:schemeClr val="tx2"/>
              </a:solidFill>
            </a:endParaRPr>
          </a:p>
        </p:txBody>
      </p:sp>
      <p:sp>
        <p:nvSpPr>
          <p:cNvPr id="10" name="Footer Placeholder 9"/>
          <p:cNvSpPr>
            <a:spLocks noGrp="1"/>
          </p:cNvSpPr>
          <p:nvPr>
            <p:ph type="ftr" sz="quarter" idx="3"/>
          </p:nvPr>
        </p:nvSpPr>
        <p:spPr>
          <a:xfrm>
            <a:off x="5715000" y="4729162"/>
            <a:ext cx="2895600" cy="357188"/>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pPr algn="r"/>
            <a:r>
              <a:rPr lang="sv-SE" sz="1400">
                <a:solidFill>
                  <a:schemeClr val="tx2"/>
                </a:solidFill>
              </a:rPr>
              <a:t>Comprehensive Examination</a:t>
            </a:r>
            <a:endParaRPr lang="en-US" sz="1400" dirty="0">
              <a:solidFill>
                <a:schemeClr val="tx2"/>
              </a:solidFill>
            </a:endParaRPr>
          </a:p>
        </p:txBody>
      </p:sp>
      <p:sp>
        <p:nvSpPr>
          <p:cNvPr id="22" name="Slide Number Placeholder 21"/>
          <p:cNvSpPr>
            <a:spLocks noGrp="1"/>
          </p:cNvSpPr>
          <p:nvPr>
            <p:ph type="sldNum" sz="quarter" idx="4"/>
          </p:nvPr>
        </p:nvSpPr>
        <p:spPr>
          <a:xfrm>
            <a:off x="8613648" y="4729162"/>
            <a:ext cx="457200" cy="357188"/>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15" name="Rectangle 14"/>
          <p:cNvSpPr/>
          <p:nvPr/>
        </p:nvSpPr>
        <p:spPr bwMode="invGray">
          <a:xfrm>
            <a:off x="1014984" y="-41"/>
            <a:ext cx="73152" cy="5143541"/>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p:transition>
  <p:hf hdr="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9.xml"/><Relationship Id="rId5" Type="http://schemas.openxmlformats.org/officeDocument/2006/relationships/image" Target="../media/image16.jpe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2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2400" y="1962150"/>
            <a:ext cx="9601200" cy="838200"/>
          </a:xfrm>
        </p:spPr>
        <p:txBody>
          <a:bodyPr>
            <a:noAutofit/>
            <a:scene3d>
              <a:camera prst="orthographicFront"/>
              <a:lightRig rig="threePt" dir="t"/>
            </a:scene3d>
            <a:sp3d extrusionH="57150">
              <a:bevelT w="38100" h="38100" prst="convex"/>
            </a:sp3d>
          </a:bodyPr>
          <a:lstStyle/>
          <a:p>
            <a:pPr algn="ctr"/>
            <a:r>
              <a:rPr lang="en-US" sz="3200" b="1" cap="none" dirty="0">
                <a:solidFill>
                  <a:schemeClr val="tx1"/>
                </a:solidFill>
                <a:latin typeface="Times New Roman" pitchFamily="18" charset="0"/>
                <a:cs typeface="Times New Roman" pitchFamily="18" charset="0"/>
              </a:rPr>
              <a:t>Object Oriented Programming using Java (ECSE102L)</a:t>
            </a:r>
            <a:endParaRPr lang="en-US" sz="3200" i="1" dirty="0">
              <a:solidFill>
                <a:schemeClr val="tx1"/>
              </a:solidFill>
              <a:latin typeface="Times New Roman" pitchFamily="18" charset="0"/>
              <a:cs typeface="Times New Roman" pitchFamily="18" charset="0"/>
            </a:endParaRPr>
          </a:p>
        </p:txBody>
      </p:sp>
      <p:sp>
        <p:nvSpPr>
          <p:cNvPr id="8" name="Subtitle 7"/>
          <p:cNvSpPr>
            <a:spLocks noGrp="1"/>
          </p:cNvSpPr>
          <p:nvPr>
            <p:ph type="subTitle" idx="1"/>
          </p:nvPr>
        </p:nvSpPr>
        <p:spPr>
          <a:xfrm>
            <a:off x="1333500" y="4286250"/>
            <a:ext cx="6972300" cy="800100"/>
          </a:xfrm>
        </p:spPr>
        <p:txBody>
          <a:bodyPr>
            <a:noAutofit/>
          </a:bodyPr>
          <a:lstStyle/>
          <a:p>
            <a:pPr algn="ctr"/>
            <a:endParaRPr lang="en-US" sz="2400" dirty="0">
              <a:solidFill>
                <a:schemeClr val="tx1"/>
              </a:solidFill>
              <a:latin typeface="Times New Roman" pitchFamily="18" charset="0"/>
              <a:cs typeface="Times New Roman" pitchFamily="18" charset="0"/>
            </a:endParaRPr>
          </a:p>
          <a:p>
            <a:endParaRPr lang="en-US" sz="2400" dirty="0">
              <a:latin typeface="Calibri" pitchFamily="3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Outline</a:t>
            </a:r>
          </a:p>
        </p:txBody>
      </p:sp>
      <p:sp>
        <p:nvSpPr>
          <p:cNvPr id="3" name="Content Placeholder 2"/>
          <p:cNvSpPr>
            <a:spLocks noGrp="1"/>
          </p:cNvSpPr>
          <p:nvPr>
            <p:ph idx="1"/>
          </p:nvPr>
        </p:nvSpPr>
        <p:spPr>
          <a:xfrm>
            <a:off x="990600" y="1200150"/>
            <a:ext cx="7485888" cy="3657600"/>
          </a:xfrm>
        </p:spPr>
        <p:txBody>
          <a:bodyPr>
            <a:normAutofit/>
          </a:bodyPr>
          <a:lstStyle/>
          <a:p>
            <a:pPr marL="539496" indent="-457200" algn="just">
              <a:buFont typeface="+mj-lt"/>
              <a:buAutoNum type="arabicPeriod"/>
            </a:pPr>
            <a:r>
              <a:rPr lang="en-US" sz="2400" dirty="0">
                <a:latin typeface="Times New Roman" pitchFamily="18" charset="0"/>
                <a:cs typeface="Times New Roman" pitchFamily="18" charset="0"/>
              </a:rPr>
              <a:t>Queue</a:t>
            </a:r>
          </a:p>
          <a:p>
            <a:pPr marL="539496" indent="-457200" algn="just">
              <a:buFont typeface="+mj-lt"/>
              <a:buAutoNum type="arabicPeriod"/>
            </a:pPr>
            <a:endParaRPr lang="en-US" sz="2400" dirty="0">
              <a:latin typeface="Times New Roman" pitchFamily="18" charset="0"/>
              <a:cs typeface="Times New Roman" pitchFamily="18" charset="0"/>
            </a:endParaRPr>
          </a:p>
          <a:p>
            <a:pPr marL="539496" indent="-457200" algn="just">
              <a:buFont typeface="+mj-lt"/>
              <a:buAutoNum type="arabicPeriod"/>
            </a:pPr>
            <a:r>
              <a:rPr lang="en-US" sz="2400" dirty="0">
                <a:latin typeface="Times New Roman" pitchFamily="18" charset="0"/>
                <a:cs typeface="Times New Roman" pitchFamily="18" charset="0"/>
              </a:rPr>
              <a:t>Circular Queue </a:t>
            </a:r>
          </a:p>
          <a:p>
            <a:pPr marL="539496" indent="-457200" algn="just">
              <a:buFont typeface="+mj-lt"/>
              <a:buAutoNum type="arabicPeriod"/>
            </a:pPr>
            <a:endParaRPr lang="en-US" sz="2400" dirty="0">
              <a:latin typeface="Times New Roman" pitchFamily="18" charset="0"/>
              <a:cs typeface="Times New Roman" pitchFamily="18" charset="0"/>
            </a:endParaRPr>
          </a:p>
          <a:p>
            <a:pPr marL="539496" indent="-457200" algn="just">
              <a:buFont typeface="+mj-lt"/>
              <a:buAutoNum type="arabicPeriod"/>
            </a:pPr>
            <a:r>
              <a:rPr lang="en-US" sz="2400" dirty="0">
                <a:latin typeface="Times New Roman" pitchFamily="18" charset="0"/>
                <a:cs typeface="Times New Roman" pitchFamily="18" charset="0"/>
              </a:rPr>
              <a:t>Priority Queue </a:t>
            </a:r>
          </a:p>
          <a:p>
            <a:pPr marL="539496" indent="-457200" algn="just">
              <a:buFont typeface="+mj-lt"/>
              <a:buAutoNum type="arabicPeriod"/>
            </a:pPr>
            <a:endParaRPr lang="en-US" sz="2400"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2</a:t>
            </a:fld>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807272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Queue </a:t>
            </a:r>
          </a:p>
        </p:txBody>
      </p:sp>
      <p:sp>
        <p:nvSpPr>
          <p:cNvPr id="3" name="Content Placeholder 2"/>
          <p:cNvSpPr>
            <a:spLocks noGrp="1"/>
          </p:cNvSpPr>
          <p:nvPr>
            <p:ph idx="1"/>
          </p:nvPr>
        </p:nvSpPr>
        <p:spPr>
          <a:xfrm>
            <a:off x="990600" y="857250"/>
            <a:ext cx="8001000" cy="4000500"/>
          </a:xfrm>
        </p:spPr>
        <p:txBody>
          <a:bodyPr>
            <a:normAutofit/>
          </a:bodyPr>
          <a:lstStyle/>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In ordinary English, a queue is defined as a waiting line. For example: People are waiting to purchase tickets, where the first person in the line is the first person to get served.</a:t>
            </a:r>
          </a:p>
          <a:p>
            <a:pPr algn="just">
              <a:buFont typeface="Wingdings" panose="05000000000000000000" pitchFamily="2" charset="2"/>
              <a:buChar char="q"/>
            </a:pPr>
            <a:r>
              <a:rPr lang="en-US" sz="2400" dirty="0">
                <a:latin typeface="Times New Roman" pitchFamily="18" charset="0"/>
                <a:cs typeface="Times New Roman" pitchFamily="18" charset="0"/>
              </a:rPr>
              <a:t>In computer science, we similarly define a queue to be a list in which all additions to the list are made at one end known as rear or tail, and all deletions from the list are made at the other end known as front or head.</a:t>
            </a:r>
          </a:p>
          <a:p>
            <a:pPr algn="just">
              <a:buFont typeface="Wingdings" panose="05000000000000000000" pitchFamily="2" charset="2"/>
              <a:buChar char="q"/>
            </a:pPr>
            <a:r>
              <a:rPr lang="en-US" sz="2400" dirty="0">
                <a:latin typeface="Times New Roman" pitchFamily="18" charset="0"/>
                <a:cs typeface="Times New Roman" pitchFamily="18" charset="0"/>
              </a:rPr>
              <a:t>A queue is a First In First Out (FIFO) data structure.</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3</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2813729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000500"/>
          </a:xfrm>
        </p:spPr>
        <p:txBody>
          <a:bodyPr>
            <a:normAutofit/>
          </a:bodyPr>
          <a:lstStyle/>
          <a:p>
            <a:pPr algn="just">
              <a:buFont typeface="Wingdings" panose="05000000000000000000" pitchFamily="2" charset="2"/>
              <a:buChar char="q"/>
            </a:pPr>
            <a:r>
              <a:rPr lang="en-US" sz="2400" b="1" dirty="0">
                <a:latin typeface="Times New Roman" panose="02020603050405020304" pitchFamily="18" charset="0"/>
                <a:cs typeface="Times New Roman" pitchFamily="18" charset="0"/>
              </a:rPr>
              <a:t>Adding an Element</a:t>
            </a:r>
          </a:p>
          <a:p>
            <a:pPr marL="82296" indent="0" algn="just">
              <a:buNone/>
            </a:pPr>
            <a:endParaRPr lang="en-US" sz="2400" b="1"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4</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6" name="Picture 5" descr="A picture containing clock&#10;&#10;Description automatically generated">
            <a:extLst>
              <a:ext uri="{FF2B5EF4-FFF2-40B4-BE49-F238E27FC236}">
                <a16:creationId xmlns:a16="http://schemas.microsoft.com/office/drawing/2014/main" id="{5AFF0AE6-0A3E-4982-88FB-4ED8B3D8FD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9070" y="1435704"/>
            <a:ext cx="4544059" cy="2715004"/>
          </a:xfrm>
          <a:prstGeom prst="rect">
            <a:avLst/>
          </a:prstGeom>
        </p:spPr>
      </p:pic>
    </p:spTree>
    <p:extLst>
      <p:ext uri="{BB962C8B-B14F-4D97-AF65-F5344CB8AC3E}">
        <p14:creationId xmlns:p14="http://schemas.microsoft.com/office/powerpoint/2010/main" val="3435097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000500"/>
          </a:xfrm>
        </p:spPr>
        <p:txBody>
          <a:bodyPr>
            <a:normAutofit/>
          </a:bodyPr>
          <a:lstStyle/>
          <a:p>
            <a:pPr algn="just">
              <a:buFont typeface="Wingdings" panose="05000000000000000000" pitchFamily="2" charset="2"/>
              <a:buChar char="q"/>
            </a:pPr>
            <a:r>
              <a:rPr lang="en-US" sz="2400" b="1" dirty="0">
                <a:latin typeface="Times New Roman" panose="02020603050405020304" pitchFamily="18" charset="0"/>
                <a:cs typeface="Times New Roman" pitchFamily="18" charset="0"/>
              </a:rPr>
              <a:t>Deleting an Element</a:t>
            </a:r>
          </a:p>
          <a:p>
            <a:pPr marL="82296" indent="0" algn="just">
              <a:buNone/>
            </a:pPr>
            <a:endParaRPr lang="en-US" sz="2400" b="1" dirty="0">
              <a:latin typeface="Times New Roman" panose="02020603050405020304" pitchFamily="18" charset="0"/>
              <a:cs typeface="Times New Roman" pitchFamily="18" charset="0"/>
            </a:endParaRPr>
          </a:p>
          <a:p>
            <a:pPr marL="82296" indent="0" algn="just">
              <a:buNone/>
            </a:pPr>
            <a:endParaRPr lang="en-US" sz="2400" b="1"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5</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8" name="Picture 7" descr="A close up of a logo&#10;&#10;Description automatically generated">
            <a:extLst>
              <a:ext uri="{FF2B5EF4-FFF2-40B4-BE49-F238E27FC236}">
                <a16:creationId xmlns:a16="http://schemas.microsoft.com/office/drawing/2014/main" id="{2A2E9A4F-E99F-4C5A-BAF7-5B932A1985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2881" y="1504950"/>
            <a:ext cx="4391638" cy="2857899"/>
          </a:xfrm>
          <a:prstGeom prst="rect">
            <a:avLst/>
          </a:prstGeom>
        </p:spPr>
      </p:pic>
    </p:spTree>
    <p:extLst>
      <p:ext uri="{BB962C8B-B14F-4D97-AF65-F5344CB8AC3E}">
        <p14:creationId xmlns:p14="http://schemas.microsoft.com/office/powerpoint/2010/main" val="685942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Uses of Queue in Computing </a:t>
            </a:r>
          </a:p>
        </p:txBody>
      </p:sp>
      <p:sp>
        <p:nvSpPr>
          <p:cNvPr id="3" name="Content Placeholder 2"/>
          <p:cNvSpPr>
            <a:spLocks noGrp="1"/>
          </p:cNvSpPr>
          <p:nvPr>
            <p:ph idx="1"/>
          </p:nvPr>
        </p:nvSpPr>
        <p:spPr>
          <a:xfrm>
            <a:off x="990600" y="742950"/>
            <a:ext cx="8001000" cy="4114800"/>
          </a:xfrm>
        </p:spPr>
        <p:txBody>
          <a:bodyPr>
            <a:normAutofit/>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Printer queue</a:t>
            </a:r>
          </a:p>
          <a:p>
            <a:pPr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Keyboard input buffer</a:t>
            </a:r>
          </a:p>
          <a:p>
            <a:pPr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Service of a web-server</a:t>
            </a:r>
          </a:p>
          <a:p>
            <a:pPr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Multitasking</a:t>
            </a:r>
          </a:p>
          <a:p>
            <a:pPr algn="just">
              <a:buFont typeface="Wingdings" panose="05000000000000000000" pitchFamily="2" charset="2"/>
              <a:buChar char="q"/>
            </a:pPr>
            <a:endParaRPr lang="en-US"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GUI </a:t>
            </a:r>
            <a:r>
              <a:rPr lang="en-US" sz="2400" dirty="0">
                <a:latin typeface="Times New Roman" panose="02020603050405020304" pitchFamily="18" charset="0"/>
                <a:cs typeface="Times New Roman" panose="02020603050405020304" pitchFamily="18" charset="0"/>
              </a:rPr>
              <a:t>event queue (click on buttons, menu items)</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6</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2924916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Operations on Queue</a:t>
            </a:r>
          </a:p>
        </p:txBody>
      </p:sp>
      <p:sp>
        <p:nvSpPr>
          <p:cNvPr id="3" name="Content Placeholder 2"/>
          <p:cNvSpPr>
            <a:spLocks noGrp="1"/>
          </p:cNvSpPr>
          <p:nvPr>
            <p:ph idx="1"/>
          </p:nvPr>
        </p:nvSpPr>
        <p:spPr>
          <a:xfrm>
            <a:off x="990600" y="857250"/>
            <a:ext cx="8001000" cy="4000500"/>
          </a:xfrm>
        </p:spPr>
        <p:txBody>
          <a:bodyPr>
            <a:normAutofit/>
          </a:bodyPr>
          <a:lstStyle/>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Enqueuing </a:t>
            </a:r>
          </a:p>
          <a:p>
            <a:pPr lvl="1" algn="jus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Operation to add a new item at the tail or rear of the queue.</a:t>
            </a:r>
          </a:p>
          <a:p>
            <a:pPr lvl="1" algn="jus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Condition: Queue is not Full.</a:t>
            </a:r>
            <a:endParaRPr lang="en-US"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Dequeuing </a:t>
            </a:r>
          </a:p>
          <a:p>
            <a:pPr lvl="1" algn="jus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Operation to delete an element from the front or head.</a:t>
            </a:r>
          </a:p>
          <a:p>
            <a:pPr lvl="1" algn="just">
              <a:buFont typeface="Wingdings" panose="05000000000000000000" pitchFamily="2" charset="2"/>
              <a:buChar char="v"/>
            </a:pPr>
            <a:r>
              <a:rPr lang="en-US" altLang="en-US" sz="2000" dirty="0">
                <a:latin typeface="Times New Roman" panose="02020603050405020304" pitchFamily="18" charset="0"/>
                <a:cs typeface="Times New Roman" panose="02020603050405020304" pitchFamily="18" charset="0"/>
              </a:rPr>
              <a:t>Condition:  Queue is not Empty.</a:t>
            </a:r>
          </a:p>
          <a:p>
            <a:pPr lvl="1" algn="just">
              <a:buFont typeface="Wingdings" panose="05000000000000000000" pitchFamily="2" charset="2"/>
              <a:buChar char="v"/>
            </a:pP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altLang="en-US" sz="2400" dirty="0"/>
          </a:p>
          <a:p>
            <a:pPr algn="just">
              <a:buFont typeface="Wingdings" panose="05000000000000000000" pitchFamily="2" charset="2"/>
              <a:buChar char="q"/>
            </a:pPr>
            <a:endParaRPr lang="en-US" altLang="en-US" sz="2400" dirty="0"/>
          </a:p>
          <a:p>
            <a:pPr algn="just">
              <a:buFont typeface="Wingdings" panose="05000000000000000000" pitchFamily="2" charset="2"/>
              <a:buChar char="q"/>
            </a:pPr>
            <a:endParaRPr lang="en-US" altLang="en-US" sz="2400" dirty="0"/>
          </a:p>
          <a:p>
            <a:pPr algn="just">
              <a:buFont typeface="Wingdings" panose="05000000000000000000" pitchFamily="2" charset="2"/>
              <a:buChar char="q"/>
            </a:pPr>
            <a:endParaRPr lang="en-US" sz="2400"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7</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6" name="Picture 5" descr="A picture containing clock&#10;&#10;Description automatically generated">
            <a:extLst>
              <a:ext uri="{FF2B5EF4-FFF2-40B4-BE49-F238E27FC236}">
                <a16:creationId xmlns:a16="http://schemas.microsoft.com/office/drawing/2014/main" id="{CF8983FE-D8E4-4E29-A910-A0BC4B7EB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4110" y="3486150"/>
            <a:ext cx="5943600" cy="1105054"/>
          </a:xfrm>
          <a:prstGeom prst="rect">
            <a:avLst/>
          </a:prstGeom>
        </p:spPr>
      </p:pic>
    </p:spTree>
    <p:extLst>
      <p:ext uri="{BB962C8B-B14F-4D97-AF65-F5344CB8AC3E}">
        <p14:creationId xmlns:p14="http://schemas.microsoft.com/office/powerpoint/2010/main" val="2013657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Operations on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000500"/>
          </a:xfrm>
        </p:spPr>
        <p:txBody>
          <a:bodyPr>
            <a:normAutofit/>
          </a:bodyPr>
          <a:lstStyle/>
          <a:p>
            <a:pPr lvl="1" algn="just">
              <a:buFont typeface="Wingdings" panose="05000000000000000000" pitchFamily="2" charset="2"/>
              <a:buChar char="v"/>
            </a:pPr>
            <a:endParaRPr lang="en-US" altLang="en-US"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endParaRPr lang="en-US" altLang="en-US" sz="2400" dirty="0"/>
          </a:p>
          <a:p>
            <a:pPr algn="just">
              <a:buFont typeface="Wingdings" panose="05000000000000000000" pitchFamily="2" charset="2"/>
              <a:buChar char="q"/>
            </a:pPr>
            <a:endParaRPr lang="en-US" altLang="en-US" sz="2400" dirty="0"/>
          </a:p>
          <a:p>
            <a:pPr algn="just">
              <a:buFont typeface="Wingdings" panose="05000000000000000000" pitchFamily="2" charset="2"/>
              <a:buChar char="q"/>
            </a:pPr>
            <a:endParaRPr lang="en-US" altLang="en-US" sz="2400" dirty="0"/>
          </a:p>
          <a:p>
            <a:pPr algn="just">
              <a:buFont typeface="Wingdings" panose="05000000000000000000" pitchFamily="2" charset="2"/>
              <a:buChar char="q"/>
            </a:pPr>
            <a:endParaRPr lang="en-US" sz="2400"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8</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8" name="Picture 7">
            <a:extLst>
              <a:ext uri="{FF2B5EF4-FFF2-40B4-BE49-F238E27FC236}">
                <a16:creationId xmlns:a16="http://schemas.microsoft.com/office/drawing/2014/main" id="{1CED71BB-1E8C-45B3-A99A-29146F71E9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1971" y="971550"/>
            <a:ext cx="3820058" cy="4000500"/>
          </a:xfrm>
          <a:prstGeom prst="rect">
            <a:avLst/>
          </a:prstGeom>
        </p:spPr>
      </p:pic>
    </p:spTree>
    <p:extLst>
      <p:ext uri="{BB962C8B-B14F-4D97-AF65-F5344CB8AC3E}">
        <p14:creationId xmlns:p14="http://schemas.microsoft.com/office/powerpoint/2010/main" val="1342517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Implementation of Queue</a:t>
            </a:r>
          </a:p>
        </p:txBody>
      </p:sp>
      <p:sp>
        <p:nvSpPr>
          <p:cNvPr id="3" name="Content Placeholder 2"/>
          <p:cNvSpPr>
            <a:spLocks noGrp="1"/>
          </p:cNvSpPr>
          <p:nvPr>
            <p:ph idx="1"/>
          </p:nvPr>
        </p:nvSpPr>
        <p:spPr>
          <a:xfrm>
            <a:off x="990600" y="857250"/>
            <a:ext cx="8001000" cy="4000500"/>
          </a:xfrm>
        </p:spPr>
        <p:txBody>
          <a:bodyPr>
            <a:normAutofit/>
          </a:bodyPr>
          <a:lstStyle/>
          <a:p>
            <a:pPr algn="just">
              <a:buFont typeface="Wingdings" panose="05000000000000000000" pitchFamily="2" charset="2"/>
              <a:buChar char="q"/>
            </a:pPr>
            <a:endParaRPr lang="en-US"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Arrays</a:t>
            </a:r>
          </a:p>
          <a:p>
            <a:pPr lvl="1" algn="just">
              <a:buClr>
                <a:srgbClr val="0070C0"/>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Static: The size of the stack must assign at the beginning.</a:t>
            </a:r>
          </a:p>
          <a:p>
            <a:pPr lvl="1" algn="just">
              <a:buClr>
                <a:srgbClr val="0070C0"/>
              </a:buClr>
              <a:buFont typeface="Wingdings" panose="05000000000000000000" pitchFamily="2" charset="2"/>
              <a:buChar char="Ø"/>
            </a:pPr>
            <a:endParaRPr lang="en-US" altLang="en-US" dirty="0">
              <a:latin typeface="Times New Roman" panose="02020603050405020304" pitchFamily="18" charset="0"/>
              <a:cs typeface="Times New Roman" panose="02020603050405020304" pitchFamily="18" charset="0"/>
            </a:endParaRPr>
          </a:p>
          <a:p>
            <a:pPr algn="just">
              <a:buClr>
                <a:srgbClr val="0070C0"/>
              </a:buClr>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Linked lists</a:t>
            </a:r>
          </a:p>
          <a:p>
            <a:pPr lvl="1" algn="just">
              <a:buClr>
                <a:srgbClr val="0070C0"/>
              </a:buClr>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Dynamic: Never becomes full.</a:t>
            </a:r>
          </a:p>
          <a:p>
            <a:pPr algn="just">
              <a:buFont typeface="Wingdings" panose="05000000000000000000" pitchFamily="2" charset="2"/>
              <a:buChar char="q"/>
            </a:pPr>
            <a:endParaRPr lang="en-US" sz="2400" b="1"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9</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165495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Implementation of Queue (</a:t>
            </a:r>
            <a:r>
              <a:rPr lang="en-US" sz="3000" b="1" dirty="0" err="1">
                <a:solidFill>
                  <a:srgbClr val="0070C0"/>
                </a:solidFill>
                <a:effectLst/>
                <a:latin typeface="Times New Roman" pitchFamily="18" charset="0"/>
                <a:cs typeface="Times New Roman" pitchFamily="18" charset="0"/>
              </a:rPr>
              <a:t>Cont</a:t>
            </a:r>
            <a:r>
              <a:rPr lang="en-US" sz="3000" b="1">
                <a:solidFill>
                  <a:srgbClr val="0070C0"/>
                </a:solidFill>
                <a:effectLst/>
                <a:latin typeface="Times New Roman" pitchFamily="18" charset="0"/>
                <a:cs typeface="Times New Roman" pitchFamily="18" charset="0"/>
              </a:rPr>
              <a:t>…)</a:t>
            </a:r>
            <a:endParaRPr lang="en-US" sz="3000" b="1" dirty="0">
              <a:solidFill>
                <a:srgbClr val="0070C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990600" y="857250"/>
            <a:ext cx="8001000" cy="4286250"/>
          </a:xfrm>
        </p:spPr>
        <p:txBody>
          <a:bodyPr>
            <a:normAutofit lnSpcReduction="10000"/>
          </a:bodyPr>
          <a:lstStyle/>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Enqueuing</a:t>
            </a:r>
          </a:p>
          <a:p>
            <a:pPr marL="82296" indent="0" algn="just">
              <a:buNone/>
            </a:pPr>
            <a:r>
              <a:rPr lang="en-US" altLang="en-US" sz="2400" dirty="0">
                <a:latin typeface="Times New Roman" panose="02020603050405020304" pitchFamily="18" charset="0"/>
                <a:cs typeface="Times New Roman" panose="02020603050405020304" pitchFamily="18" charset="0"/>
              </a:rPr>
              <a:t>Enqueue (queue, item, Max, Front, Rear)</a:t>
            </a:r>
          </a:p>
          <a:p>
            <a:pPr marL="82296" indent="0" algn="just">
              <a:buNone/>
            </a:pPr>
            <a:r>
              <a:rPr lang="en-US" altLang="en-US" sz="2000" dirty="0">
                <a:latin typeface="Times New Roman" panose="02020603050405020304" pitchFamily="18" charset="0"/>
                <a:cs typeface="Times New Roman" panose="02020603050405020304" pitchFamily="18" charset="0"/>
              </a:rPr>
              <a:t>If (Rear = = Max - 1)  </a:t>
            </a:r>
          </a:p>
          <a:p>
            <a:pPr marL="82296" indent="0" algn="just">
              <a:buNone/>
            </a:pPr>
            <a:r>
              <a:rPr lang="en-US" altLang="en-US" sz="2000" dirty="0">
                <a:latin typeface="Times New Roman" panose="02020603050405020304" pitchFamily="18" charset="0"/>
                <a:cs typeface="Times New Roman" panose="02020603050405020304" pitchFamily="18" charset="0"/>
              </a:rPr>
              <a:t>   print “Overflow”</a:t>
            </a:r>
          </a:p>
          <a:p>
            <a:pPr marL="82296" indent="0" algn="just">
              <a:buNone/>
            </a:pPr>
            <a:r>
              <a:rPr lang="en-US" altLang="en-US" sz="2000" dirty="0">
                <a:latin typeface="Times New Roman" panose="02020603050405020304" pitchFamily="18" charset="0"/>
                <a:cs typeface="Times New Roman" panose="02020603050405020304" pitchFamily="18" charset="0"/>
              </a:rPr>
              <a:t>Else</a:t>
            </a:r>
          </a:p>
          <a:p>
            <a:pPr marL="82296" indent="0" algn="just">
              <a:buNone/>
            </a:pPr>
            <a:r>
              <a:rPr lang="en-US" altLang="en-US" sz="2000" dirty="0">
                <a:latin typeface="Times New Roman" panose="02020603050405020304" pitchFamily="18" charset="0"/>
                <a:cs typeface="Times New Roman" panose="02020603050405020304" pitchFamily="18" charset="0"/>
              </a:rPr>
              <a:t>{</a:t>
            </a:r>
          </a:p>
          <a:p>
            <a:pPr marL="82296" indent="0" algn="just">
              <a:buNone/>
            </a:pPr>
            <a:r>
              <a:rPr lang="en-US" altLang="en-US" sz="2000" dirty="0">
                <a:latin typeface="Times New Roman" panose="02020603050405020304" pitchFamily="18" charset="0"/>
                <a:cs typeface="Times New Roman" panose="02020603050405020304" pitchFamily="18" charset="0"/>
              </a:rPr>
              <a:t>     If (Front = = -1)       //Queue is initially empty</a:t>
            </a:r>
          </a:p>
          <a:p>
            <a:pPr marL="82296" indent="0" algn="just">
              <a:buNone/>
            </a:pPr>
            <a:r>
              <a:rPr lang="en-US" altLang="en-US" sz="2000" dirty="0">
                <a:latin typeface="Times New Roman" panose="02020603050405020304" pitchFamily="18" charset="0"/>
                <a:cs typeface="Times New Roman" panose="02020603050405020304" pitchFamily="18" charset="0"/>
              </a:rPr>
              <a:t>          Front=0</a:t>
            </a:r>
          </a:p>
          <a:p>
            <a:pPr marL="82296" indent="0" algn="just">
              <a:buNone/>
            </a:pPr>
            <a:r>
              <a:rPr lang="en-US" altLang="en-US" sz="2000" dirty="0">
                <a:latin typeface="Times New Roman" panose="02020603050405020304" pitchFamily="18" charset="0"/>
                <a:cs typeface="Times New Roman" panose="02020603050405020304" pitchFamily="18" charset="0"/>
              </a:rPr>
              <a:t>     Rear = Rear + 1</a:t>
            </a:r>
          </a:p>
          <a:p>
            <a:pPr marL="82296" indent="0" algn="just">
              <a:buNone/>
            </a:pPr>
            <a:r>
              <a:rPr lang="en-US" altLang="en-US" sz="2000" dirty="0">
                <a:latin typeface="Times New Roman" panose="02020603050405020304" pitchFamily="18" charset="0"/>
                <a:cs typeface="Times New Roman" panose="02020603050405020304" pitchFamily="18" charset="0"/>
              </a:rPr>
              <a:t>     queue[Rear] = item</a:t>
            </a:r>
          </a:p>
          <a:p>
            <a:pPr marL="82296" indent="0" algn="just">
              <a:buNone/>
            </a:pPr>
            <a:r>
              <a:rPr lang="en-US" alt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q"/>
            </a:pPr>
            <a:endParaRPr lang="en-US" sz="2400" b="1"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10</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1441256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Implementation of Queue (</a:t>
            </a:r>
            <a:r>
              <a:rPr lang="en-US" sz="3000" b="1" dirty="0" err="1">
                <a:solidFill>
                  <a:srgbClr val="0070C0"/>
                </a:solidFill>
                <a:effectLst/>
                <a:latin typeface="Times New Roman" pitchFamily="18" charset="0"/>
                <a:cs typeface="Times New Roman" pitchFamily="18" charset="0"/>
              </a:rPr>
              <a:t>Cont</a:t>
            </a:r>
            <a:r>
              <a:rPr lang="en-US" sz="3000" b="1">
                <a:solidFill>
                  <a:srgbClr val="0070C0"/>
                </a:solidFill>
                <a:effectLst/>
                <a:latin typeface="Times New Roman" pitchFamily="18" charset="0"/>
                <a:cs typeface="Times New Roman" pitchFamily="18" charset="0"/>
              </a:rPr>
              <a:t>…)</a:t>
            </a:r>
            <a:endParaRPr lang="en-US" sz="3000" b="1" dirty="0">
              <a:solidFill>
                <a:srgbClr val="0070C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990600" y="857250"/>
            <a:ext cx="8001000" cy="4286250"/>
          </a:xfrm>
        </p:spPr>
        <p:txBody>
          <a:bodyPr>
            <a:normAutofit/>
          </a:bodyPr>
          <a:lstStyle/>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Dequeuing   </a:t>
            </a:r>
          </a:p>
          <a:p>
            <a:pPr marL="82296" indent="0" algn="just">
              <a:buNone/>
            </a:pPr>
            <a:r>
              <a:rPr lang="en-US" altLang="en-US" sz="2400" dirty="0">
                <a:latin typeface="Times New Roman" panose="02020603050405020304" pitchFamily="18" charset="0"/>
                <a:cs typeface="Times New Roman" panose="02020603050405020304" pitchFamily="18" charset="0"/>
              </a:rPr>
              <a:t>Dequeue (queue, item, Front, Rear)</a:t>
            </a:r>
          </a:p>
          <a:p>
            <a:pPr marL="82296" indent="0" algn="just">
              <a:buNone/>
            </a:pPr>
            <a:r>
              <a:rPr lang="en-US" altLang="en-US" sz="2000" dirty="0">
                <a:latin typeface="Times New Roman" panose="02020603050405020304" pitchFamily="18" charset="0"/>
                <a:cs typeface="Times New Roman" panose="02020603050405020304" pitchFamily="18" charset="0"/>
              </a:rPr>
              <a:t>If (Front = = - 1 || Front &gt; Rear ) </a:t>
            </a:r>
          </a:p>
          <a:p>
            <a:pPr marL="82296" indent="0" algn="just">
              <a:buNone/>
            </a:pPr>
            <a:r>
              <a:rPr lang="en-US" altLang="en-US" sz="2000" dirty="0">
                <a:latin typeface="Times New Roman" panose="02020603050405020304" pitchFamily="18" charset="0"/>
                <a:cs typeface="Times New Roman" panose="02020603050405020304" pitchFamily="18" charset="0"/>
              </a:rPr>
              <a:t>    print “Underflow”</a:t>
            </a:r>
          </a:p>
          <a:p>
            <a:pPr marL="82296" indent="0" algn="just">
              <a:buNone/>
            </a:pPr>
            <a:r>
              <a:rPr lang="en-US" altLang="en-US" sz="2000" dirty="0">
                <a:latin typeface="Times New Roman" panose="02020603050405020304" pitchFamily="18" charset="0"/>
                <a:cs typeface="Times New Roman" panose="02020603050405020304" pitchFamily="18" charset="0"/>
              </a:rPr>
              <a:t>Else</a:t>
            </a:r>
          </a:p>
          <a:p>
            <a:pPr marL="82296" indent="0" algn="just">
              <a:buNone/>
            </a:pPr>
            <a:r>
              <a:rPr lang="en-US" altLang="en-US" sz="2000" dirty="0">
                <a:latin typeface="Times New Roman" panose="02020603050405020304" pitchFamily="18" charset="0"/>
                <a:cs typeface="Times New Roman" panose="02020603050405020304" pitchFamily="18" charset="0"/>
              </a:rPr>
              <a:t>{</a:t>
            </a:r>
          </a:p>
          <a:p>
            <a:pPr marL="82296" indent="0" algn="just">
              <a:buNone/>
            </a:pPr>
            <a:r>
              <a:rPr lang="en-US" altLang="en-US" sz="2000" dirty="0">
                <a:latin typeface="Times New Roman" panose="02020603050405020304" pitchFamily="18" charset="0"/>
                <a:cs typeface="Times New Roman" panose="02020603050405020304" pitchFamily="18" charset="0"/>
              </a:rPr>
              <a:t>     item = queue[Front]     </a:t>
            </a:r>
          </a:p>
          <a:p>
            <a:pPr marL="82296" indent="0" algn="just">
              <a:buNone/>
            </a:pPr>
            <a:r>
              <a:rPr lang="en-US" altLang="en-US" sz="2000" dirty="0">
                <a:latin typeface="Times New Roman" panose="02020603050405020304" pitchFamily="18" charset="0"/>
                <a:cs typeface="Times New Roman" panose="02020603050405020304" pitchFamily="18" charset="0"/>
              </a:rPr>
              <a:t>     Front = Front + 1</a:t>
            </a:r>
          </a:p>
          <a:p>
            <a:pPr marL="82296" indent="0" algn="just">
              <a:buNone/>
            </a:pPr>
            <a:r>
              <a:rPr lang="en-US" altLang="en-US" sz="20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q"/>
            </a:pPr>
            <a:endParaRPr lang="en-US" sz="2400" b="1"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11</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2889352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Implementation of Queue (</a:t>
            </a:r>
            <a:r>
              <a:rPr lang="en-US" sz="3000" b="1" dirty="0" err="1">
                <a:solidFill>
                  <a:srgbClr val="0070C0"/>
                </a:solidFill>
                <a:effectLst/>
                <a:latin typeface="Times New Roman" pitchFamily="18" charset="0"/>
                <a:cs typeface="Times New Roman" pitchFamily="18" charset="0"/>
              </a:rPr>
              <a:t>Cont</a:t>
            </a:r>
            <a:r>
              <a:rPr lang="en-US" sz="3000" b="1">
                <a:solidFill>
                  <a:srgbClr val="0070C0"/>
                </a:solidFill>
                <a:effectLst/>
                <a:latin typeface="Times New Roman" pitchFamily="18" charset="0"/>
                <a:cs typeface="Times New Roman" pitchFamily="18" charset="0"/>
              </a:rPr>
              <a:t>…)</a:t>
            </a:r>
            <a:endParaRPr lang="en-US" sz="3000" b="1" dirty="0">
              <a:solidFill>
                <a:srgbClr val="0070C0"/>
              </a:solidFill>
              <a:effectLst/>
              <a:latin typeface="Times New Roman" pitchFamily="18" charset="0"/>
              <a:cs typeface="Times New Roman" pitchFamily="18" charset="0"/>
            </a:endParaRPr>
          </a:p>
        </p:txBody>
      </p:sp>
      <p:sp>
        <p:nvSpPr>
          <p:cNvPr id="3" name="Content Placeholder 2"/>
          <p:cNvSpPr>
            <a:spLocks noGrp="1"/>
          </p:cNvSpPr>
          <p:nvPr>
            <p:ph idx="1"/>
          </p:nvPr>
        </p:nvSpPr>
        <p:spPr>
          <a:xfrm>
            <a:off x="990600" y="857250"/>
            <a:ext cx="8001000" cy="4286250"/>
          </a:xfrm>
        </p:spPr>
        <p:txBody>
          <a:bodyPr>
            <a:normAutofit/>
          </a:bodyPr>
          <a:lstStyle/>
          <a:p>
            <a:pPr algn="just">
              <a:buFont typeface="Wingdings" panose="05000000000000000000" pitchFamily="2" charset="2"/>
              <a:buChar char="q"/>
            </a:pPr>
            <a:r>
              <a:rPr lang="en-US" altLang="en-US" sz="2400" dirty="0">
                <a:latin typeface="Times New Roman" panose="02020603050405020304" pitchFamily="18" charset="0"/>
                <a:cs typeface="Times New Roman" panose="02020603050405020304" pitchFamily="18" charset="0"/>
              </a:rPr>
              <a:t>Dequeuing   </a:t>
            </a:r>
          </a:p>
          <a:p>
            <a:pPr marL="82296" indent="0" algn="just">
              <a:buNone/>
            </a:pPr>
            <a:r>
              <a:rPr lang="en-US" altLang="en-US" sz="2400" dirty="0">
                <a:latin typeface="Times New Roman" panose="02020603050405020304" pitchFamily="18" charset="0"/>
                <a:cs typeface="Times New Roman" panose="02020603050405020304" pitchFamily="18" charset="0"/>
              </a:rPr>
              <a:t>Display (queue, </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 Front, Rear)</a:t>
            </a:r>
            <a:endParaRPr lang="en-US" altLang="en-US" sz="2000" dirty="0">
              <a:latin typeface="Times New Roman" panose="02020603050405020304" pitchFamily="18" charset="0"/>
              <a:cs typeface="Times New Roman" panose="02020603050405020304" pitchFamily="18" charset="0"/>
            </a:endParaRPr>
          </a:p>
          <a:p>
            <a:pPr marL="82296" indent="0" algn="just">
              <a:buNone/>
            </a:pPr>
            <a:r>
              <a:rPr lang="en-US" altLang="en-US" sz="2000" dirty="0">
                <a:latin typeface="Times New Roman" panose="02020603050405020304" pitchFamily="18" charset="0"/>
                <a:cs typeface="Times New Roman" panose="02020603050405020304" pitchFamily="18" charset="0"/>
              </a:rPr>
              <a:t>If(Rear = = -1)</a:t>
            </a:r>
          </a:p>
          <a:p>
            <a:pPr marL="82296" indent="0" algn="just">
              <a:buNone/>
            </a:pPr>
            <a:r>
              <a:rPr lang="en-US" altLang="en-US" sz="2000" dirty="0">
                <a:latin typeface="Times New Roman" panose="02020603050405020304" pitchFamily="18" charset="0"/>
                <a:cs typeface="Times New Roman" panose="02020603050405020304" pitchFamily="18" charset="0"/>
              </a:rPr>
              <a:t>      Print     “Underflow”</a:t>
            </a:r>
          </a:p>
          <a:p>
            <a:pPr marL="82296" indent="0" algn="just">
              <a:buNone/>
            </a:pPr>
            <a:r>
              <a:rPr lang="en-US" altLang="en-US" sz="2000" dirty="0">
                <a:latin typeface="Times New Roman" panose="02020603050405020304" pitchFamily="18" charset="0"/>
                <a:cs typeface="Times New Roman" panose="02020603050405020304" pitchFamily="18" charset="0"/>
              </a:rPr>
              <a:t>Else</a:t>
            </a:r>
          </a:p>
          <a:p>
            <a:pPr marL="82296" indent="0" algn="just">
              <a:buNone/>
            </a:pPr>
            <a:r>
              <a:rPr lang="en-US" altLang="en-US" sz="2000" dirty="0">
                <a:latin typeface="Times New Roman" panose="02020603050405020304" pitchFamily="18" charset="0"/>
                <a:cs typeface="Times New Roman" panose="02020603050405020304" pitchFamily="18" charset="0"/>
              </a:rPr>
              <a:t>       For </a:t>
            </a:r>
            <a:r>
              <a:rPr lang="en-US" altLang="en-US" sz="2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 = Front to Rear</a:t>
            </a:r>
          </a:p>
          <a:p>
            <a:pPr marL="82296" indent="0" algn="just">
              <a:buNone/>
            </a:pPr>
            <a:r>
              <a:rPr lang="en-US" altLang="en-US" sz="2000" dirty="0">
                <a:latin typeface="Times New Roman" panose="02020603050405020304" pitchFamily="18" charset="0"/>
                <a:cs typeface="Times New Roman" panose="02020603050405020304" pitchFamily="18" charset="0"/>
              </a:rPr>
              <a:t>            Print queue[</a:t>
            </a:r>
            <a:r>
              <a:rPr lang="en-US" altLang="en-US" sz="2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a:t>
            </a:r>
            <a:endParaRPr lang="en-US" sz="2400" b="1"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12</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111470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Problem of Normal Queue </a:t>
            </a:r>
          </a:p>
        </p:txBody>
      </p:sp>
      <p:sp>
        <p:nvSpPr>
          <p:cNvPr id="3" name="Content Placeholder 2"/>
          <p:cNvSpPr>
            <a:spLocks noGrp="1"/>
          </p:cNvSpPr>
          <p:nvPr>
            <p:ph idx="1"/>
          </p:nvPr>
        </p:nvSpPr>
        <p:spPr>
          <a:xfrm>
            <a:off x="990600" y="857250"/>
            <a:ext cx="8001000" cy="4286250"/>
          </a:xfrm>
        </p:spPr>
        <p:txBody>
          <a:bodyPr>
            <a:normAutofit/>
          </a:bodyPr>
          <a:lstStyle/>
          <a:p>
            <a:pPr algn="just">
              <a:buFont typeface="Wingdings" panose="05000000000000000000" pitchFamily="2" charset="2"/>
              <a:buChar char="q"/>
            </a:pPr>
            <a:r>
              <a:rPr lang="en-US" sz="2400" dirty="0">
                <a:latin typeface="Times New Roman" pitchFamily="18" charset="0"/>
                <a:cs typeface="Times New Roman" pitchFamily="18" charset="0"/>
              </a:rPr>
              <a:t>Can you say the problem by seeing the below array?</a:t>
            </a:r>
          </a:p>
          <a:p>
            <a:pPr algn="just">
              <a:buFont typeface="Wingdings" panose="05000000000000000000" pitchFamily="2" charset="2"/>
              <a:buChar char="q"/>
            </a:pPr>
            <a:endParaRPr lang="en-US" sz="2400"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a:p>
            <a:pPr algn="just">
              <a:buFont typeface="Wingdings" panose="05000000000000000000" pitchFamily="2" charset="2"/>
              <a:buChar char="q"/>
            </a:pPr>
            <a:endParaRPr lang="en-US" sz="2400" dirty="0">
              <a:latin typeface="Times New Roman" pitchFamily="18" charset="0"/>
              <a:cs typeface="Times New Roman" pitchFamily="18" charset="0"/>
            </a:endParaRPr>
          </a:p>
          <a:p>
            <a:pPr marL="82296" indent="0" algn="just">
              <a:buNone/>
            </a:pPr>
            <a:r>
              <a:rPr lang="en-US" sz="2400" dirty="0">
                <a:latin typeface="Times New Roman" pitchFamily="18" charset="0"/>
                <a:cs typeface="Times New Roman" pitchFamily="18" charset="0"/>
              </a:rPr>
              <a:t>Front =2</a:t>
            </a:r>
          </a:p>
          <a:p>
            <a:pPr marL="82296" indent="0" algn="just">
              <a:buNone/>
            </a:pPr>
            <a:r>
              <a:rPr lang="en-US" sz="2400" dirty="0">
                <a:latin typeface="Times New Roman" pitchFamily="18" charset="0"/>
                <a:cs typeface="Times New Roman" pitchFamily="18" charset="0"/>
              </a:rPr>
              <a:t>Rear = 7</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13</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graphicFrame>
        <p:nvGraphicFramePr>
          <p:cNvPr id="4" name="Table 5">
            <a:extLst>
              <a:ext uri="{FF2B5EF4-FFF2-40B4-BE49-F238E27FC236}">
                <a16:creationId xmlns:a16="http://schemas.microsoft.com/office/drawing/2014/main" id="{DD8EF8B5-AB17-4B6F-9158-A995F7B8FB14}"/>
              </a:ext>
            </a:extLst>
          </p:cNvPr>
          <p:cNvGraphicFramePr>
            <a:graphicFrameLocks noGrp="1"/>
          </p:cNvGraphicFramePr>
          <p:nvPr>
            <p:extLst>
              <p:ext uri="{D42A27DB-BD31-4B8C-83A1-F6EECF244321}">
                <p14:modId xmlns:p14="http://schemas.microsoft.com/office/powerpoint/2010/main" val="814418689"/>
              </p:ext>
            </p:extLst>
          </p:nvPr>
        </p:nvGraphicFramePr>
        <p:xfrm>
          <a:off x="1790700" y="2038350"/>
          <a:ext cx="6096000" cy="3708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029783549"/>
                    </a:ext>
                  </a:extLst>
                </a:gridCol>
                <a:gridCol w="762000">
                  <a:extLst>
                    <a:ext uri="{9D8B030D-6E8A-4147-A177-3AD203B41FA5}">
                      <a16:colId xmlns:a16="http://schemas.microsoft.com/office/drawing/2014/main" val="520810116"/>
                    </a:ext>
                  </a:extLst>
                </a:gridCol>
                <a:gridCol w="762000">
                  <a:extLst>
                    <a:ext uri="{9D8B030D-6E8A-4147-A177-3AD203B41FA5}">
                      <a16:colId xmlns:a16="http://schemas.microsoft.com/office/drawing/2014/main" val="1752684022"/>
                    </a:ext>
                  </a:extLst>
                </a:gridCol>
                <a:gridCol w="762000">
                  <a:extLst>
                    <a:ext uri="{9D8B030D-6E8A-4147-A177-3AD203B41FA5}">
                      <a16:colId xmlns:a16="http://schemas.microsoft.com/office/drawing/2014/main" val="3517632538"/>
                    </a:ext>
                  </a:extLst>
                </a:gridCol>
                <a:gridCol w="762000">
                  <a:extLst>
                    <a:ext uri="{9D8B030D-6E8A-4147-A177-3AD203B41FA5}">
                      <a16:colId xmlns:a16="http://schemas.microsoft.com/office/drawing/2014/main" val="3208420419"/>
                    </a:ext>
                  </a:extLst>
                </a:gridCol>
                <a:gridCol w="762000">
                  <a:extLst>
                    <a:ext uri="{9D8B030D-6E8A-4147-A177-3AD203B41FA5}">
                      <a16:colId xmlns:a16="http://schemas.microsoft.com/office/drawing/2014/main" val="2282333332"/>
                    </a:ext>
                  </a:extLst>
                </a:gridCol>
                <a:gridCol w="762000">
                  <a:extLst>
                    <a:ext uri="{9D8B030D-6E8A-4147-A177-3AD203B41FA5}">
                      <a16:colId xmlns:a16="http://schemas.microsoft.com/office/drawing/2014/main" val="566610482"/>
                    </a:ext>
                  </a:extLst>
                </a:gridCol>
                <a:gridCol w="762000">
                  <a:extLst>
                    <a:ext uri="{9D8B030D-6E8A-4147-A177-3AD203B41FA5}">
                      <a16:colId xmlns:a16="http://schemas.microsoft.com/office/drawing/2014/main" val="3393864038"/>
                    </a:ext>
                  </a:extLst>
                </a:gridCol>
              </a:tblGrid>
              <a:tr h="370840">
                <a:tc>
                  <a:txBody>
                    <a:bodyPr/>
                    <a:lstStyle/>
                    <a:p>
                      <a:endParaRPr lang="en-IN" dirty="0"/>
                    </a:p>
                  </a:txBody>
                  <a:tcPr/>
                </a:tc>
                <a:tc>
                  <a:txBody>
                    <a:bodyPr/>
                    <a:lstStyle/>
                    <a:p>
                      <a:endParaRPr lang="en-IN" dirty="0"/>
                    </a:p>
                  </a:txBody>
                  <a:tcPr/>
                </a:tc>
                <a:tc>
                  <a:txBody>
                    <a:bodyPr/>
                    <a:lstStyle/>
                    <a:p>
                      <a:r>
                        <a:rPr lang="en-US" dirty="0"/>
                        <a:t>5</a:t>
                      </a:r>
                      <a:endParaRPr lang="en-IN" dirty="0"/>
                    </a:p>
                  </a:txBody>
                  <a:tcPr/>
                </a:tc>
                <a:tc>
                  <a:txBody>
                    <a:bodyPr/>
                    <a:lstStyle/>
                    <a:p>
                      <a:r>
                        <a:rPr lang="en-US" dirty="0"/>
                        <a:t>10</a:t>
                      </a:r>
                      <a:endParaRPr lang="en-IN" dirty="0"/>
                    </a:p>
                  </a:txBody>
                  <a:tcPr/>
                </a:tc>
                <a:tc>
                  <a:txBody>
                    <a:bodyPr/>
                    <a:lstStyle/>
                    <a:p>
                      <a:r>
                        <a:rPr lang="en-US" dirty="0"/>
                        <a:t>12</a:t>
                      </a:r>
                      <a:endParaRPr lang="en-IN" dirty="0"/>
                    </a:p>
                  </a:txBody>
                  <a:tcPr/>
                </a:tc>
                <a:tc>
                  <a:txBody>
                    <a:bodyPr/>
                    <a:lstStyle/>
                    <a:p>
                      <a:r>
                        <a:rPr lang="en-US" dirty="0"/>
                        <a:t>15</a:t>
                      </a:r>
                      <a:endParaRPr lang="en-IN" dirty="0"/>
                    </a:p>
                  </a:txBody>
                  <a:tcPr/>
                </a:tc>
                <a:tc>
                  <a:txBody>
                    <a:bodyPr/>
                    <a:lstStyle/>
                    <a:p>
                      <a:r>
                        <a:rPr lang="en-US" dirty="0"/>
                        <a:t>4</a:t>
                      </a:r>
                      <a:endParaRPr lang="en-IN" dirty="0"/>
                    </a:p>
                  </a:txBody>
                  <a:tcPr/>
                </a:tc>
                <a:tc>
                  <a:txBody>
                    <a:bodyPr/>
                    <a:lstStyle/>
                    <a:p>
                      <a:r>
                        <a:rPr lang="en-US" dirty="0"/>
                        <a:t>87</a:t>
                      </a:r>
                      <a:endParaRPr lang="en-IN" dirty="0"/>
                    </a:p>
                  </a:txBody>
                  <a:tcPr/>
                </a:tc>
                <a:extLst>
                  <a:ext uri="{0D108BD9-81ED-4DB2-BD59-A6C34878D82A}">
                    <a16:rowId xmlns:a16="http://schemas.microsoft.com/office/drawing/2014/main" val="2920763619"/>
                  </a:ext>
                </a:extLst>
              </a:tr>
            </a:tbl>
          </a:graphicData>
        </a:graphic>
      </p:graphicFrame>
    </p:spTree>
    <p:extLst>
      <p:ext uri="{BB962C8B-B14F-4D97-AF65-F5344CB8AC3E}">
        <p14:creationId xmlns:p14="http://schemas.microsoft.com/office/powerpoint/2010/main" val="1272414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Problem of Normal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286250"/>
          </a:xfrm>
        </p:spPr>
        <p:txBody>
          <a:bodyPr>
            <a:normAutofit/>
          </a:bodyPr>
          <a:lstStyle/>
          <a:p>
            <a:pPr algn="just">
              <a:buFont typeface="Wingdings" panose="05000000000000000000" pitchFamily="2" charset="2"/>
              <a:buChar char="q"/>
            </a:pPr>
            <a:r>
              <a:rPr lang="en-US" sz="2400" dirty="0">
                <a:latin typeface="Times New Roman" pitchFamily="18" charset="0"/>
                <a:cs typeface="Times New Roman" pitchFamily="18" charset="0"/>
              </a:rPr>
              <a:t>Can you say the problem by seeing the below array?</a:t>
            </a:r>
          </a:p>
          <a:p>
            <a:pPr algn="just">
              <a:buFont typeface="Wingdings" panose="05000000000000000000" pitchFamily="2" charset="2"/>
              <a:buChar char="q"/>
            </a:pPr>
            <a:endParaRPr lang="en-US" sz="2400" dirty="0">
              <a:latin typeface="Times New Roman" pitchFamily="18" charset="0"/>
              <a:cs typeface="Times New Roman" pitchFamily="18" charset="0"/>
            </a:endParaRPr>
          </a:p>
          <a:p>
            <a:pPr marL="82296" indent="0" algn="just">
              <a:buNone/>
            </a:pPr>
            <a:r>
              <a:rPr lang="en-US" sz="2400" dirty="0">
                <a:latin typeface="Times New Roman" pitchFamily="18" charset="0"/>
                <a:cs typeface="Times New Roman" pitchFamily="18" charset="0"/>
              </a:rPr>
              <a:t>Front =2</a:t>
            </a:r>
          </a:p>
          <a:p>
            <a:pPr marL="82296" indent="0" algn="just">
              <a:buNone/>
            </a:pPr>
            <a:r>
              <a:rPr lang="en-US" sz="2400" dirty="0">
                <a:latin typeface="Times New Roman" pitchFamily="18" charset="0"/>
                <a:cs typeface="Times New Roman" pitchFamily="18" charset="0"/>
              </a:rPr>
              <a:t>Rear = 7</a:t>
            </a:r>
          </a:p>
          <a:p>
            <a:pPr marL="82296" indent="0" algn="just">
              <a:buNone/>
            </a:pPr>
            <a:endParaRPr lang="en-US" sz="2400" dirty="0">
              <a:latin typeface="Times New Roman" pitchFamily="18" charset="0"/>
              <a:cs typeface="Times New Roman" pitchFamily="18" charset="0"/>
            </a:endParaRPr>
          </a:p>
          <a:p>
            <a:pPr lvl="1" algn="just">
              <a:buFont typeface="Wingdings" panose="05000000000000000000" pitchFamily="2" charset="2"/>
              <a:buChar char="v"/>
            </a:pPr>
            <a:r>
              <a:rPr lang="en-US" sz="2000" dirty="0">
                <a:latin typeface="Times New Roman" pitchFamily="18" charset="0"/>
                <a:cs typeface="Times New Roman" pitchFamily="18" charset="0"/>
              </a:rPr>
              <a:t>We cannot add any element even though there are two empty spaces.</a:t>
            </a:r>
          </a:p>
          <a:p>
            <a:pPr lvl="1" algn="just">
              <a:buFont typeface="Wingdings" panose="05000000000000000000" pitchFamily="2" charset="2"/>
              <a:buChar char="v"/>
            </a:pPr>
            <a:r>
              <a:rPr lang="en-US" sz="2000" dirty="0">
                <a:latin typeface="Times New Roman" pitchFamily="18" charset="0"/>
                <a:cs typeface="Times New Roman" pitchFamily="18" charset="0"/>
              </a:rPr>
              <a:t>Here, rear is at 7 i.e. the last location of the array.</a:t>
            </a:r>
          </a:p>
          <a:p>
            <a:pPr lvl="1" algn="just">
              <a:buFont typeface="Wingdings" panose="05000000000000000000" pitchFamily="2" charset="2"/>
              <a:buChar char="v"/>
            </a:pPr>
            <a:endParaRPr lang="en-US" sz="2000" dirty="0">
              <a:latin typeface="Times New Roman" pitchFamily="18" charset="0"/>
              <a:cs typeface="Times New Roman" pitchFamily="18" charset="0"/>
            </a:endParaRPr>
          </a:p>
          <a:p>
            <a:pPr algn="just">
              <a:buFont typeface="Wingdings" panose="05000000000000000000" pitchFamily="2" charset="2"/>
              <a:buChar char="q"/>
            </a:pPr>
            <a:r>
              <a:rPr lang="en-US" sz="2400" dirty="0">
                <a:latin typeface="Times New Roman" pitchFamily="18" charset="0"/>
                <a:cs typeface="Times New Roman" pitchFamily="18" charset="0"/>
              </a:rPr>
              <a:t>What could be the solution? </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14</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graphicFrame>
        <p:nvGraphicFramePr>
          <p:cNvPr id="4" name="Table 5">
            <a:extLst>
              <a:ext uri="{FF2B5EF4-FFF2-40B4-BE49-F238E27FC236}">
                <a16:creationId xmlns:a16="http://schemas.microsoft.com/office/drawing/2014/main" id="{DD8EF8B5-AB17-4B6F-9158-A995F7B8FB14}"/>
              </a:ext>
            </a:extLst>
          </p:cNvPr>
          <p:cNvGraphicFramePr>
            <a:graphicFrameLocks noGrp="1"/>
          </p:cNvGraphicFramePr>
          <p:nvPr/>
        </p:nvGraphicFramePr>
        <p:xfrm>
          <a:off x="1790700" y="1357312"/>
          <a:ext cx="6096000" cy="37084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1029783549"/>
                    </a:ext>
                  </a:extLst>
                </a:gridCol>
                <a:gridCol w="762000">
                  <a:extLst>
                    <a:ext uri="{9D8B030D-6E8A-4147-A177-3AD203B41FA5}">
                      <a16:colId xmlns:a16="http://schemas.microsoft.com/office/drawing/2014/main" val="520810116"/>
                    </a:ext>
                  </a:extLst>
                </a:gridCol>
                <a:gridCol w="762000">
                  <a:extLst>
                    <a:ext uri="{9D8B030D-6E8A-4147-A177-3AD203B41FA5}">
                      <a16:colId xmlns:a16="http://schemas.microsoft.com/office/drawing/2014/main" val="1752684022"/>
                    </a:ext>
                  </a:extLst>
                </a:gridCol>
                <a:gridCol w="762000">
                  <a:extLst>
                    <a:ext uri="{9D8B030D-6E8A-4147-A177-3AD203B41FA5}">
                      <a16:colId xmlns:a16="http://schemas.microsoft.com/office/drawing/2014/main" val="3517632538"/>
                    </a:ext>
                  </a:extLst>
                </a:gridCol>
                <a:gridCol w="762000">
                  <a:extLst>
                    <a:ext uri="{9D8B030D-6E8A-4147-A177-3AD203B41FA5}">
                      <a16:colId xmlns:a16="http://schemas.microsoft.com/office/drawing/2014/main" val="3208420419"/>
                    </a:ext>
                  </a:extLst>
                </a:gridCol>
                <a:gridCol w="762000">
                  <a:extLst>
                    <a:ext uri="{9D8B030D-6E8A-4147-A177-3AD203B41FA5}">
                      <a16:colId xmlns:a16="http://schemas.microsoft.com/office/drawing/2014/main" val="2282333332"/>
                    </a:ext>
                  </a:extLst>
                </a:gridCol>
                <a:gridCol w="762000">
                  <a:extLst>
                    <a:ext uri="{9D8B030D-6E8A-4147-A177-3AD203B41FA5}">
                      <a16:colId xmlns:a16="http://schemas.microsoft.com/office/drawing/2014/main" val="566610482"/>
                    </a:ext>
                  </a:extLst>
                </a:gridCol>
                <a:gridCol w="762000">
                  <a:extLst>
                    <a:ext uri="{9D8B030D-6E8A-4147-A177-3AD203B41FA5}">
                      <a16:colId xmlns:a16="http://schemas.microsoft.com/office/drawing/2014/main" val="3393864038"/>
                    </a:ext>
                  </a:extLst>
                </a:gridCol>
              </a:tblGrid>
              <a:tr h="370840">
                <a:tc>
                  <a:txBody>
                    <a:bodyPr/>
                    <a:lstStyle/>
                    <a:p>
                      <a:endParaRPr lang="en-IN" dirty="0"/>
                    </a:p>
                  </a:txBody>
                  <a:tcPr/>
                </a:tc>
                <a:tc>
                  <a:txBody>
                    <a:bodyPr/>
                    <a:lstStyle/>
                    <a:p>
                      <a:endParaRPr lang="en-IN" dirty="0"/>
                    </a:p>
                  </a:txBody>
                  <a:tcPr/>
                </a:tc>
                <a:tc>
                  <a:txBody>
                    <a:bodyPr/>
                    <a:lstStyle/>
                    <a:p>
                      <a:r>
                        <a:rPr lang="en-US" dirty="0"/>
                        <a:t>5</a:t>
                      </a:r>
                      <a:endParaRPr lang="en-IN" dirty="0"/>
                    </a:p>
                  </a:txBody>
                  <a:tcPr/>
                </a:tc>
                <a:tc>
                  <a:txBody>
                    <a:bodyPr/>
                    <a:lstStyle/>
                    <a:p>
                      <a:r>
                        <a:rPr lang="en-US" dirty="0"/>
                        <a:t>10</a:t>
                      </a:r>
                      <a:endParaRPr lang="en-IN" dirty="0"/>
                    </a:p>
                  </a:txBody>
                  <a:tcPr/>
                </a:tc>
                <a:tc>
                  <a:txBody>
                    <a:bodyPr/>
                    <a:lstStyle/>
                    <a:p>
                      <a:r>
                        <a:rPr lang="en-US" dirty="0"/>
                        <a:t>12</a:t>
                      </a:r>
                      <a:endParaRPr lang="en-IN" dirty="0"/>
                    </a:p>
                  </a:txBody>
                  <a:tcPr/>
                </a:tc>
                <a:tc>
                  <a:txBody>
                    <a:bodyPr/>
                    <a:lstStyle/>
                    <a:p>
                      <a:r>
                        <a:rPr lang="en-US" dirty="0"/>
                        <a:t>15</a:t>
                      </a:r>
                      <a:endParaRPr lang="en-IN" dirty="0"/>
                    </a:p>
                  </a:txBody>
                  <a:tcPr/>
                </a:tc>
                <a:tc>
                  <a:txBody>
                    <a:bodyPr/>
                    <a:lstStyle/>
                    <a:p>
                      <a:r>
                        <a:rPr lang="en-US" dirty="0"/>
                        <a:t>4</a:t>
                      </a:r>
                      <a:endParaRPr lang="en-IN" dirty="0"/>
                    </a:p>
                  </a:txBody>
                  <a:tcPr/>
                </a:tc>
                <a:tc>
                  <a:txBody>
                    <a:bodyPr/>
                    <a:lstStyle/>
                    <a:p>
                      <a:r>
                        <a:rPr lang="en-US" dirty="0"/>
                        <a:t>87</a:t>
                      </a:r>
                      <a:endParaRPr lang="en-IN" dirty="0"/>
                    </a:p>
                  </a:txBody>
                  <a:tcPr/>
                </a:tc>
                <a:extLst>
                  <a:ext uri="{0D108BD9-81ED-4DB2-BD59-A6C34878D82A}">
                    <a16:rowId xmlns:a16="http://schemas.microsoft.com/office/drawing/2014/main" val="2920763619"/>
                  </a:ext>
                </a:extLst>
              </a:tr>
            </a:tbl>
          </a:graphicData>
        </a:graphic>
      </p:graphicFrame>
    </p:spTree>
    <p:extLst>
      <p:ext uri="{BB962C8B-B14F-4D97-AF65-F5344CB8AC3E}">
        <p14:creationId xmlns:p14="http://schemas.microsoft.com/office/powerpoint/2010/main" val="270678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Solution of the Problem of Normal Queue</a:t>
            </a:r>
          </a:p>
        </p:txBody>
      </p:sp>
      <p:sp>
        <p:nvSpPr>
          <p:cNvPr id="3" name="Content Placeholder 2"/>
          <p:cNvSpPr>
            <a:spLocks noGrp="1"/>
          </p:cNvSpPr>
          <p:nvPr>
            <p:ph idx="1"/>
          </p:nvPr>
        </p:nvSpPr>
        <p:spPr>
          <a:xfrm>
            <a:off x="990600" y="1123950"/>
            <a:ext cx="8001000" cy="4019550"/>
          </a:xfrm>
        </p:spPr>
        <p:txBody>
          <a:bodyPr>
            <a:normAutofit/>
          </a:bodyPr>
          <a:lstStyle/>
          <a:p>
            <a:pPr algn="just">
              <a:buFont typeface="Wingdings" panose="05000000000000000000" pitchFamily="2" charset="2"/>
              <a:buChar char="q"/>
            </a:pPr>
            <a:r>
              <a:rPr lang="en-US" sz="2400" dirty="0">
                <a:latin typeface="Times New Roman" pitchFamily="18" charset="0"/>
                <a:cs typeface="Times New Roman" pitchFamily="18" charset="0"/>
              </a:rPr>
              <a:t>To shift all the elements to our left end. Then, we have to change the position of front and rear.</a:t>
            </a:r>
          </a:p>
          <a:p>
            <a:pPr algn="just">
              <a:buFont typeface="Wingdings" panose="05000000000000000000" pitchFamily="2" charset="2"/>
              <a:buChar char="q"/>
            </a:pPr>
            <a:endParaRPr lang="en-US" sz="2400" dirty="0">
              <a:latin typeface="Times New Roman" pitchFamily="18" charset="0"/>
              <a:cs typeface="Times New Roman" pitchFamily="18" charset="0"/>
            </a:endParaRPr>
          </a:p>
          <a:p>
            <a:pPr algn="just">
              <a:buFont typeface="Wingdings" panose="05000000000000000000" pitchFamily="2" charset="2"/>
              <a:buChar char="q"/>
            </a:pPr>
            <a:r>
              <a:rPr lang="en-US" sz="2400" dirty="0">
                <a:latin typeface="Times New Roman" pitchFamily="18" charset="0"/>
                <a:cs typeface="Times New Roman" pitchFamily="18" charset="0"/>
              </a:rPr>
              <a:t>Another solution is </a:t>
            </a:r>
            <a:r>
              <a:rPr lang="en-US" sz="2400" b="1" dirty="0">
                <a:latin typeface="Times New Roman" pitchFamily="18" charset="0"/>
                <a:cs typeface="Times New Roman" pitchFamily="18" charset="0"/>
              </a:rPr>
              <a:t>Circular Queue. </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15</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1260354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Circular Queue</a:t>
            </a:r>
          </a:p>
        </p:txBody>
      </p:sp>
      <p:sp>
        <p:nvSpPr>
          <p:cNvPr id="3" name="Content Placeholder 2"/>
          <p:cNvSpPr>
            <a:spLocks noGrp="1"/>
          </p:cNvSpPr>
          <p:nvPr>
            <p:ph idx="1"/>
          </p:nvPr>
        </p:nvSpPr>
        <p:spPr>
          <a:xfrm>
            <a:off x="990600" y="857250"/>
            <a:ext cx="8001000" cy="4286250"/>
          </a:xfrm>
        </p:spPr>
        <p:txBody>
          <a:bodyPr>
            <a:normAutofit/>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 the circular queue, the first index comes right after the last index. </a:t>
            </a:r>
          </a:p>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When we try to add any variable and we reach at the end of queue, we start from the beginning of queue by modulo division with the queue size.</a:t>
            </a:r>
          </a:p>
          <a:p>
            <a:pPr marL="82296" indent="0" algn="ctr">
              <a:buNone/>
            </a:pPr>
            <a:r>
              <a:rPr lang="en-US" sz="2000" dirty="0">
                <a:latin typeface="Times New Roman" panose="02020603050405020304" pitchFamily="18" charset="0"/>
                <a:cs typeface="Times New Roman" pitchFamily="18" charset="0"/>
              </a:rPr>
              <a:t>Rear + 1 == 5     // Overflow</a:t>
            </a:r>
          </a:p>
          <a:p>
            <a:pPr marL="82296" indent="0" algn="ctr">
              <a:buNone/>
            </a:pPr>
            <a:r>
              <a:rPr lang="en-US" sz="2000" dirty="0">
                <a:latin typeface="Times New Roman" panose="02020603050405020304" pitchFamily="18" charset="0"/>
                <a:cs typeface="Times New Roman" pitchFamily="18" charset="0"/>
              </a:rPr>
              <a:t>Rear = (Rear + 1) % 5 = 0        // Start of queue</a:t>
            </a:r>
          </a:p>
          <a:p>
            <a:pPr marL="82296" indent="0" algn="ctr">
              <a:buNone/>
            </a:pPr>
            <a:endParaRPr lang="en-US" sz="2000"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16</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8" name="Picture 7">
            <a:extLst>
              <a:ext uri="{FF2B5EF4-FFF2-40B4-BE49-F238E27FC236}">
                <a16:creationId xmlns:a16="http://schemas.microsoft.com/office/drawing/2014/main" id="{0371F024-8151-4B12-B298-5D1176B10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600" y="3638550"/>
            <a:ext cx="1752600" cy="1459624"/>
          </a:xfrm>
          <a:prstGeom prst="rect">
            <a:avLst/>
          </a:prstGeom>
        </p:spPr>
      </p:pic>
    </p:spTree>
    <p:extLst>
      <p:ext uri="{BB962C8B-B14F-4D97-AF65-F5344CB8AC3E}">
        <p14:creationId xmlns:p14="http://schemas.microsoft.com/office/powerpoint/2010/main" val="2481888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Circular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28625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When we initialize the queue, we set Front and Rear as -1.</a:t>
            </a:r>
          </a:p>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When enqueuing the first element, we set the value of Front as 0.</a:t>
            </a:r>
          </a:p>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On enqueuing an element, we circularly increase the value of Rear, and place the new element in the position pointed by Rear.</a:t>
            </a:r>
          </a:p>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On dequeuing an element, we return the value pointed by Front and circularly increase the Front.</a:t>
            </a:r>
          </a:p>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When dequeuing the last element, we reset the values of Front and Rear as -1.</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17</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198926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Circular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28625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Example</a:t>
            </a:r>
          </a:p>
          <a:p>
            <a:pPr algn="just">
              <a:buFont typeface="Wingdings" panose="05000000000000000000" pitchFamily="2" charset="2"/>
              <a:buChar char="q"/>
            </a:pPr>
            <a:endParaRPr lang="en-US" sz="2400"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18</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6" name="Picture 5" descr="A screenshot of a cell phone&#10;&#10;Description automatically generated">
            <a:extLst>
              <a:ext uri="{FF2B5EF4-FFF2-40B4-BE49-F238E27FC236}">
                <a16:creationId xmlns:a16="http://schemas.microsoft.com/office/drawing/2014/main" id="{2E8F9E8F-3487-4F1F-98A8-A66CDA8DFA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1800" y="1200150"/>
            <a:ext cx="3810000" cy="3943350"/>
          </a:xfrm>
          <a:prstGeom prst="rect">
            <a:avLst/>
          </a:prstGeom>
        </p:spPr>
      </p:pic>
    </p:spTree>
    <p:extLst>
      <p:ext uri="{BB962C8B-B14F-4D97-AF65-F5344CB8AC3E}">
        <p14:creationId xmlns:p14="http://schemas.microsoft.com/office/powerpoint/2010/main" val="2065298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Circular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28625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Example (</a:t>
            </a:r>
            <a:r>
              <a:rPr lang="en-US" sz="2400" dirty="0" err="1">
                <a:latin typeface="Times New Roman" panose="02020603050405020304" pitchFamily="18" charset="0"/>
                <a:cs typeface="Times New Roman" pitchFamily="18" charset="0"/>
              </a:rPr>
              <a:t>Cont</a:t>
            </a:r>
            <a:r>
              <a:rPr lang="en-US" sz="2400" dirty="0">
                <a:latin typeface="Times New Roman" panose="02020603050405020304" pitchFamily="18" charset="0"/>
                <a:cs typeface="Times New Roman" pitchFamily="18" charset="0"/>
              </a:rPr>
              <a:t>…)</a:t>
            </a:r>
          </a:p>
          <a:p>
            <a:pPr algn="just">
              <a:buFont typeface="Wingdings" panose="05000000000000000000" pitchFamily="2" charset="2"/>
              <a:buChar char="q"/>
            </a:pPr>
            <a:endParaRPr lang="en-US" sz="2400" dirty="0">
              <a:latin typeface="Times New Roman" panose="02020603050405020304" pitchFamily="18" charset="0"/>
              <a:cs typeface="Times New Roman" pitchFamily="18" charset="0"/>
            </a:endParaRPr>
          </a:p>
          <a:p>
            <a:pPr marL="82296" indent="0" algn="just">
              <a:buNone/>
            </a:pPr>
            <a:endParaRPr lang="en-US" sz="2400" dirty="0">
              <a:latin typeface="Times New Roman" panose="02020603050405020304" pitchFamily="18" charset="0"/>
              <a:cs typeface="Times New Roman" pitchFamily="18" charset="0"/>
            </a:endParaRPr>
          </a:p>
          <a:p>
            <a:pPr algn="just">
              <a:buFont typeface="Wingdings" panose="05000000000000000000" pitchFamily="2" charset="2"/>
              <a:buChar char="q"/>
            </a:pPr>
            <a:endParaRPr lang="en-US" sz="2400"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19</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8" name="Picture 7" descr="A screenshot of a cell phone&#10;&#10;Description automatically generated">
            <a:extLst>
              <a:ext uri="{FF2B5EF4-FFF2-40B4-BE49-F238E27FC236}">
                <a16:creationId xmlns:a16="http://schemas.microsoft.com/office/drawing/2014/main" id="{10D81CD3-04CD-4141-940F-2A363BFFD8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8102" y="1357312"/>
            <a:ext cx="3734321" cy="3754000"/>
          </a:xfrm>
          <a:prstGeom prst="rect">
            <a:avLst/>
          </a:prstGeom>
        </p:spPr>
      </p:pic>
    </p:spTree>
    <p:extLst>
      <p:ext uri="{BB962C8B-B14F-4D97-AF65-F5344CB8AC3E}">
        <p14:creationId xmlns:p14="http://schemas.microsoft.com/office/powerpoint/2010/main" val="1305182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Circular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28625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Enqueuing</a:t>
            </a:r>
          </a:p>
          <a:p>
            <a:pPr marL="82296" indent="0" algn="just">
              <a:buNone/>
            </a:pPr>
            <a:endParaRPr lang="en-US" sz="1200"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20</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10" name="Picture 9" descr="A picture containing bird&#10;&#10;Description automatically generated">
            <a:extLst>
              <a:ext uri="{FF2B5EF4-FFF2-40B4-BE49-F238E27FC236}">
                <a16:creationId xmlns:a16="http://schemas.microsoft.com/office/drawing/2014/main" id="{BCB04CD6-3434-4239-B122-8EBD09792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1357312"/>
            <a:ext cx="5867400" cy="3729037"/>
          </a:xfrm>
          <a:prstGeom prst="rect">
            <a:avLst/>
          </a:prstGeom>
        </p:spPr>
      </p:pic>
    </p:spTree>
    <p:extLst>
      <p:ext uri="{BB962C8B-B14F-4D97-AF65-F5344CB8AC3E}">
        <p14:creationId xmlns:p14="http://schemas.microsoft.com/office/powerpoint/2010/main" val="2077358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Circular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3" name="Content Placeholder 2"/>
          <p:cNvSpPr>
            <a:spLocks noGrp="1"/>
          </p:cNvSpPr>
          <p:nvPr>
            <p:ph idx="1"/>
          </p:nvPr>
        </p:nvSpPr>
        <p:spPr>
          <a:xfrm>
            <a:off x="990600" y="857250"/>
            <a:ext cx="8001000" cy="428625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cs typeface="Times New Roman" pitchFamily="18" charset="0"/>
              </a:rPr>
              <a:t>Dequeuing</a:t>
            </a:r>
          </a:p>
          <a:p>
            <a:pPr marL="82296" indent="0" algn="just">
              <a:buNone/>
            </a:pPr>
            <a:endParaRPr lang="en-US" sz="2400" dirty="0">
              <a:latin typeface="Times New Roman" panose="02020603050405020304" pitchFamily="18" charset="0"/>
              <a:cs typeface="Times New Roman" pitchFamily="18" charset="0"/>
            </a:endParaRPr>
          </a:p>
          <a:p>
            <a:pPr marL="82296" indent="0" algn="just">
              <a:buNone/>
            </a:pPr>
            <a:r>
              <a:rPr lang="en-US" sz="2400" dirty="0">
                <a:latin typeface="Times New Roman" panose="02020603050405020304" pitchFamily="18" charset="0"/>
                <a:cs typeface="Times New Roman" pitchFamily="18" charset="0"/>
              </a:rPr>
              <a:t> </a:t>
            </a:r>
          </a:p>
          <a:p>
            <a:pPr algn="just">
              <a:buFont typeface="Wingdings" panose="05000000000000000000" pitchFamily="2" charset="2"/>
              <a:buChar char="q"/>
            </a:pPr>
            <a:endParaRPr lang="en-US" sz="2400" dirty="0">
              <a:latin typeface="Times New Roman" panose="02020603050405020304" pitchFamily="18" charset="0"/>
              <a:cs typeface="Times New Roman" pitchFamily="18" charset="0"/>
            </a:endParaRPr>
          </a:p>
          <a:p>
            <a:pPr marL="82296" indent="0" algn="just">
              <a:buNone/>
            </a:pPr>
            <a:endParaRPr lang="en-US" sz="2400" dirty="0">
              <a:latin typeface="Times New Roman" panose="02020603050405020304" pitchFamily="18" charset="0"/>
              <a:cs typeface="Times New Roman" pitchFamily="18" charset="0"/>
            </a:endParaRPr>
          </a:p>
          <a:p>
            <a:pPr algn="just">
              <a:buFont typeface="Wingdings" panose="05000000000000000000" pitchFamily="2" charset="2"/>
              <a:buChar char="q"/>
            </a:pPr>
            <a:endParaRPr lang="en-US" sz="2400"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21</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pic>
        <p:nvPicPr>
          <p:cNvPr id="6" name="Picture 5" descr="A picture containing bird, flower&#10;&#10;Description automatically generated">
            <a:extLst>
              <a:ext uri="{FF2B5EF4-FFF2-40B4-BE49-F238E27FC236}">
                <a16:creationId xmlns:a16="http://schemas.microsoft.com/office/drawing/2014/main" id="{F74E3E37-C1ED-447F-8167-5BD52CE85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1357312"/>
            <a:ext cx="4343400" cy="3725754"/>
          </a:xfrm>
          <a:prstGeom prst="rect">
            <a:avLst/>
          </a:prstGeom>
        </p:spPr>
      </p:pic>
    </p:spTree>
    <p:extLst>
      <p:ext uri="{BB962C8B-B14F-4D97-AF65-F5344CB8AC3E}">
        <p14:creationId xmlns:p14="http://schemas.microsoft.com/office/powerpoint/2010/main" val="2726008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Priority Queue</a:t>
            </a:r>
          </a:p>
        </p:txBody>
      </p:sp>
      <p:sp>
        <p:nvSpPr>
          <p:cNvPr id="3" name="Content Placeholder 2"/>
          <p:cNvSpPr>
            <a:spLocks noGrp="1"/>
          </p:cNvSpPr>
          <p:nvPr>
            <p:ph idx="1"/>
          </p:nvPr>
        </p:nvSpPr>
        <p:spPr>
          <a:xfrm>
            <a:off x="990600" y="857250"/>
            <a:ext cx="8001000" cy="428625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priority queue is a special type of queue.</a:t>
            </a:r>
          </a:p>
          <a:p>
            <a:pPr algn="just">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Here, each element is associated with a priority value and served according to its priority. </a:t>
            </a:r>
          </a:p>
          <a:p>
            <a:pPr algn="just" fontAlgn="base">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fontAlgn="base">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An element with high priority is dequeued before an element with low priority.</a:t>
            </a:r>
          </a:p>
          <a:p>
            <a:pPr algn="just" fontAlgn="base">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fontAlgn="base">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If two elements have the same priority, they are served according to their order in the queue.</a:t>
            </a:r>
          </a:p>
          <a:p>
            <a:pPr algn="just">
              <a:buFont typeface="Wingdings" panose="05000000000000000000" pitchFamily="2" charset="2"/>
              <a:buChar char="q"/>
            </a:pPr>
            <a:endParaRPr lang="en-US" sz="2400" dirty="0">
              <a:latin typeface="Times New Roman" panose="02020603050405020304"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22</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Tree>
    <p:extLst>
      <p:ext uri="{BB962C8B-B14F-4D97-AF65-F5344CB8AC3E}">
        <p14:creationId xmlns:p14="http://schemas.microsoft.com/office/powerpoint/2010/main" val="2175181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Priority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23</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
        <p:nvSpPr>
          <p:cNvPr id="9" name="Content Placeholder 8">
            <a:extLst>
              <a:ext uri="{FF2B5EF4-FFF2-40B4-BE49-F238E27FC236}">
                <a16:creationId xmlns:a16="http://schemas.microsoft.com/office/drawing/2014/main" id="{7499AA51-D03F-46B3-A44A-13FA85B4D62F}"/>
              </a:ext>
            </a:extLst>
          </p:cNvPr>
          <p:cNvSpPr>
            <a:spLocks noGrp="1"/>
          </p:cNvSpPr>
          <p:nvPr>
            <p:ph idx="1"/>
          </p:nvPr>
        </p:nvSpPr>
        <p:spPr>
          <a:xfrm>
            <a:off x="990600" y="857250"/>
            <a:ext cx="7943088" cy="3829050"/>
          </a:xfrm>
        </p:spPr>
        <p:txBody>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Insertion</a:t>
            </a:r>
          </a:p>
          <a:p>
            <a:pPr lvl="2">
              <a:buClr>
                <a:srgbClr val="0070C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Whenever an element is inserted into queue, priority queue inserts the item according to its priority. </a:t>
            </a:r>
          </a:p>
          <a:p>
            <a:pPr lvl="2">
              <a:buClr>
                <a:srgbClr val="0070C0"/>
              </a:buCl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2">
              <a:buClr>
                <a:srgbClr val="0070C0"/>
              </a:buClr>
              <a:buFont typeface="Wingdings" panose="05000000000000000000" pitchFamily="2" charset="2"/>
              <a:buChar char="v"/>
            </a:pPr>
            <a:endParaRPr lang="en-US" dirty="0"/>
          </a:p>
          <a:p>
            <a:pPr lvl="2">
              <a:buClr>
                <a:srgbClr val="0070C0"/>
              </a:buClr>
              <a:buFont typeface="Wingdings" panose="05000000000000000000" pitchFamily="2" charset="2"/>
              <a:buChar char="v"/>
            </a:pPr>
            <a:endParaRPr lang="en-IN" dirty="0"/>
          </a:p>
        </p:txBody>
      </p:sp>
      <p:pic>
        <p:nvPicPr>
          <p:cNvPr id="11" name="Picture 10" descr="A screenshot of a cellphone&#10;&#10;Description automatically generated">
            <a:extLst>
              <a:ext uri="{FF2B5EF4-FFF2-40B4-BE49-F238E27FC236}">
                <a16:creationId xmlns:a16="http://schemas.microsoft.com/office/drawing/2014/main" id="{B6A47D06-0065-48A6-A389-149EF2F1A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1400" y="2288106"/>
            <a:ext cx="3047999" cy="2619650"/>
          </a:xfrm>
          <a:prstGeom prst="rect">
            <a:avLst/>
          </a:prstGeom>
        </p:spPr>
      </p:pic>
    </p:spTree>
    <p:extLst>
      <p:ext uri="{BB962C8B-B14F-4D97-AF65-F5344CB8AC3E}">
        <p14:creationId xmlns:p14="http://schemas.microsoft.com/office/powerpoint/2010/main" val="2605961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696200" cy="857250"/>
          </a:xfrm>
        </p:spPr>
        <p:txBody>
          <a:bodyPr>
            <a:normAutofit/>
          </a:bodyPr>
          <a:lstStyle/>
          <a:p>
            <a:pPr algn="ctr"/>
            <a:r>
              <a:rPr lang="en-US" sz="3000" b="1" dirty="0">
                <a:solidFill>
                  <a:srgbClr val="0070C0"/>
                </a:solidFill>
                <a:effectLst/>
                <a:latin typeface="Times New Roman" pitchFamily="18" charset="0"/>
                <a:cs typeface="Times New Roman" pitchFamily="18" charset="0"/>
              </a:rPr>
              <a:t>Priority Queue (</a:t>
            </a:r>
            <a:r>
              <a:rPr lang="en-US" sz="3000" b="1" dirty="0" err="1">
                <a:solidFill>
                  <a:srgbClr val="0070C0"/>
                </a:solidFill>
                <a:effectLst/>
                <a:latin typeface="Times New Roman" pitchFamily="18" charset="0"/>
                <a:cs typeface="Times New Roman" pitchFamily="18" charset="0"/>
              </a:rPr>
              <a:t>Cont</a:t>
            </a:r>
            <a:r>
              <a:rPr lang="en-US" sz="3000" b="1" dirty="0">
                <a:solidFill>
                  <a:srgbClr val="0070C0"/>
                </a:solidFill>
                <a:effectLst/>
                <a:latin typeface="Times New Roman" pitchFamily="18" charset="0"/>
                <a:cs typeface="Times New Roman" pitchFamily="18" charset="0"/>
              </a:rPr>
              <a:t>…)</a:t>
            </a:r>
          </a:p>
        </p:txBody>
      </p:sp>
      <p:sp>
        <p:nvSpPr>
          <p:cNvPr id="7" name="Slide Number Placeholder 6"/>
          <p:cNvSpPr>
            <a:spLocks noGrp="1"/>
          </p:cNvSpPr>
          <p:nvPr>
            <p:ph type="sldNum" sz="quarter" idx="12"/>
          </p:nvPr>
        </p:nvSpPr>
        <p:spPr/>
        <p:txBody>
          <a:bodyPr/>
          <a:lstStyle/>
          <a:p>
            <a:fld id="{8379391B-7504-45C9-9DE3-8766B2043D5B}" type="slidenum">
              <a:rPr lang="en-US" smtClean="0">
                <a:latin typeface="Times New Roman" pitchFamily="18" charset="0"/>
                <a:cs typeface="Times New Roman" pitchFamily="18" charset="0"/>
              </a:rPr>
              <a:pPr/>
              <a:t>24</a:t>
            </a:fld>
            <a:endParaRPr lang="en-US" dirty="0">
              <a:latin typeface="Times New Roman" pitchFamily="18" charset="0"/>
              <a:cs typeface="Times New Roman" pitchFamily="18" charset="0"/>
            </a:endParaRPr>
          </a:p>
        </p:txBody>
      </p:sp>
      <p:sp>
        <p:nvSpPr>
          <p:cNvPr id="5" name="Rectangle: Beveled 4">
            <a:extLst>
              <a:ext uri="{FF2B5EF4-FFF2-40B4-BE49-F238E27FC236}">
                <a16:creationId xmlns:a16="http://schemas.microsoft.com/office/drawing/2014/main" id="{FA857F04-D939-407B-9278-056C8F14C5E7}"/>
              </a:ext>
            </a:extLst>
          </p:cNvPr>
          <p:cNvSpPr/>
          <p:nvPr/>
        </p:nvSpPr>
        <p:spPr>
          <a:xfrm>
            <a:off x="8827380" y="9526"/>
            <a:ext cx="304800" cy="34766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S</a:t>
            </a:r>
          </a:p>
        </p:txBody>
      </p:sp>
      <p:sp>
        <p:nvSpPr>
          <p:cNvPr id="9" name="Content Placeholder 8">
            <a:extLst>
              <a:ext uri="{FF2B5EF4-FFF2-40B4-BE49-F238E27FC236}">
                <a16:creationId xmlns:a16="http://schemas.microsoft.com/office/drawing/2014/main" id="{7499AA51-D03F-46B3-A44A-13FA85B4D62F}"/>
              </a:ext>
            </a:extLst>
          </p:cNvPr>
          <p:cNvSpPr>
            <a:spLocks noGrp="1"/>
          </p:cNvSpPr>
          <p:nvPr>
            <p:ph idx="1"/>
          </p:nvPr>
        </p:nvSpPr>
        <p:spPr>
          <a:xfrm>
            <a:off x="990600" y="857250"/>
            <a:ext cx="7943088" cy="3829050"/>
          </a:xfrm>
        </p:spPr>
        <p:txBody>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Deletion</a:t>
            </a:r>
          </a:p>
          <a:p>
            <a:pPr lvl="1">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Deletion operation will be the deletion of the first element of the list because it has more priority than other elements of the queue.</a:t>
            </a:r>
            <a:endParaRPr lang="en-US" dirty="0">
              <a:latin typeface="Times New Roman" panose="02020603050405020304" pitchFamily="18" charset="0"/>
              <a:cs typeface="Times New Roman" panose="02020603050405020304" pitchFamily="18" charset="0"/>
            </a:endParaRPr>
          </a:p>
          <a:p>
            <a:pPr lvl="3">
              <a:buClr>
                <a:srgbClr val="0070C0"/>
              </a:buCl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lvl="3">
              <a:buClr>
                <a:srgbClr val="0070C0"/>
              </a:buClr>
              <a:buFont typeface="Wingdings" panose="05000000000000000000" pitchFamily="2" charset="2"/>
              <a:buChar char="v"/>
            </a:pPr>
            <a:endParaRPr lang="en-US" dirty="0"/>
          </a:p>
          <a:p>
            <a:pPr lvl="3">
              <a:buClr>
                <a:srgbClr val="0070C0"/>
              </a:buClr>
              <a:buFont typeface="Wingdings" panose="05000000000000000000" pitchFamily="2" charset="2"/>
              <a:buChar char="v"/>
            </a:pPr>
            <a:endParaRPr lang="en-IN" dirty="0"/>
          </a:p>
        </p:txBody>
      </p:sp>
      <p:pic>
        <p:nvPicPr>
          <p:cNvPr id="4" name="Picture 3" descr="A picture containing clock&#10;&#10;Description automatically generated">
            <a:extLst>
              <a:ext uri="{FF2B5EF4-FFF2-40B4-BE49-F238E27FC236}">
                <a16:creationId xmlns:a16="http://schemas.microsoft.com/office/drawing/2014/main" id="{9AA41259-F40F-4D05-9432-2258796AF1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1944" y="2179583"/>
            <a:ext cx="3200399" cy="2495550"/>
          </a:xfrm>
          <a:prstGeom prst="rect">
            <a:avLst/>
          </a:prstGeom>
        </p:spPr>
      </p:pic>
    </p:spTree>
    <p:extLst>
      <p:ext uri="{BB962C8B-B14F-4D97-AF65-F5344CB8AC3E}">
        <p14:creationId xmlns:p14="http://schemas.microsoft.com/office/powerpoint/2010/main" val="13645783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4BDC88-5686-4D8C-A45E-430AC6155FF9}" type="datetime1">
              <a:rPr lang="en-US" smtClean="0">
                <a:latin typeface="Times New Roman" pitchFamily="18" charset="0"/>
                <a:cs typeface="Times New Roman" pitchFamily="18" charset="0"/>
              </a:rPr>
              <a:pPr/>
              <a:t>2/3/2020</a:t>
            </a:fld>
            <a:endParaRPr lang="en-US" dirty="0">
              <a:latin typeface="Times New Roman" pitchFamily="18" charset="0"/>
              <a:cs typeface="Times New Roman" pitchFamily="18" charset="0"/>
            </a:endParaRPr>
          </a:p>
        </p:txBody>
      </p:sp>
      <p:sp>
        <p:nvSpPr>
          <p:cNvPr id="3" name="Footer Placeholder 2"/>
          <p:cNvSpPr>
            <a:spLocks noGrp="1"/>
          </p:cNvSpPr>
          <p:nvPr>
            <p:ph type="ftr" sz="quarter" idx="12"/>
          </p:nvPr>
        </p:nvSpPr>
        <p:spPr/>
        <p:txBody>
          <a:bodyPr/>
          <a:lstStyle/>
          <a:p>
            <a:r>
              <a:rPr lang="sv-SE">
                <a:latin typeface="Times New Roman" pitchFamily="18" charset="0"/>
                <a:cs typeface="Times New Roman" pitchFamily="18" charset="0"/>
              </a:rPr>
              <a:t>Comprehensive Examination</a:t>
            </a:r>
            <a:endParaRPr lang="en-US" dirty="0">
              <a:latin typeface="Times New Roman" pitchFamily="18" charset="0"/>
              <a:cs typeface="Times New Roman" pitchFamily="18" charset="0"/>
            </a:endParaRPr>
          </a:p>
        </p:txBody>
      </p:sp>
      <p:sp>
        <p:nvSpPr>
          <p:cNvPr id="5" name="Slide Number Placeholder 4"/>
          <p:cNvSpPr>
            <a:spLocks noGrp="1"/>
          </p:cNvSpPr>
          <p:nvPr>
            <p:ph type="sldNum" sz="quarter" idx="11"/>
          </p:nvPr>
        </p:nvSpPr>
        <p:spPr/>
        <p:txBody>
          <a:bodyPr>
            <a:normAutofit lnSpcReduction="10000"/>
          </a:bodyPr>
          <a:lstStyle/>
          <a:p>
            <a:pPr algn="ctr"/>
            <a:fld id="{8F82E0A0-C266-4798-8C8F-B9F91E9DA37E}" type="slidenum">
              <a:rPr lang="en-US" sz="2800" b="1" smtClean="0">
                <a:solidFill>
                  <a:srgbClr val="FFFFFF"/>
                </a:solidFill>
                <a:latin typeface="Times New Roman" pitchFamily="18" charset="0"/>
                <a:cs typeface="Times New Roman" pitchFamily="18" charset="0"/>
              </a:rPr>
              <a:pPr algn="ctr"/>
              <a:t>25</a:t>
            </a:fld>
            <a:endParaRPr lang="en-US" sz="2800" dirty="0">
              <a:latin typeface="Times New Roman" pitchFamily="18" charset="0"/>
              <a:cs typeface="Times New Roman" pitchFamily="18"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7014" y="2985191"/>
            <a:ext cx="5126986" cy="2158309"/>
          </a:xfrm>
          <a:prstGeom prst="rect">
            <a:avLst/>
          </a:prstGeom>
        </p:spPr>
      </p:pic>
      <p:pic>
        <p:nvPicPr>
          <p:cNvPr id="10" name="Picture 9" descr="263762-frederika.jpg"/>
          <p:cNvPicPr>
            <a:picLocks noChangeAspect="1"/>
          </p:cNvPicPr>
          <p:nvPr/>
        </p:nvPicPr>
        <p:blipFill>
          <a:blip r:embed="rId4" cstate="print"/>
          <a:stretch>
            <a:fillRect/>
          </a:stretch>
        </p:blipFill>
        <p:spPr>
          <a:xfrm>
            <a:off x="3962400" y="0"/>
            <a:ext cx="5181600" cy="3028950"/>
          </a:xfrm>
          <a:prstGeom prst="rect">
            <a:avLst/>
          </a:prstGeom>
        </p:spPr>
      </p:pic>
      <p:pic>
        <p:nvPicPr>
          <p:cNvPr id="13" name="Picture 12" descr="10426693503_00e4413427_b.jpg"/>
          <p:cNvPicPr>
            <a:picLocks noChangeAspect="1"/>
          </p:cNvPicPr>
          <p:nvPr/>
        </p:nvPicPr>
        <p:blipFill>
          <a:blip r:embed="rId5"/>
          <a:stretch>
            <a:fillRect/>
          </a:stretch>
        </p:blipFill>
        <p:spPr>
          <a:xfrm>
            <a:off x="0" y="0"/>
            <a:ext cx="4038599" cy="5143500"/>
          </a:xfrm>
          <a:prstGeom prst="rect">
            <a:avLst/>
          </a:prstGeom>
        </p:spPr>
      </p:pic>
    </p:spTree>
  </p:cSld>
  <p:clrMapOvr>
    <a:overrideClrMapping bg1="dk1" tx1="lt1" bg2="dk2" tx2="lt2" accent1="accent1" accent2="accent2" accent3="accent3" accent4="accent4" accent5="accent5" accent6="accent6" hlink="hlink" folHlink="folHlink"/>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Widescreen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0</TotalTime>
  <Words>971</Words>
  <Application>Microsoft Office PowerPoint</Application>
  <PresentationFormat>On-screen Show (16:9)</PresentationFormat>
  <Paragraphs>273</Paragraphs>
  <Slides>25</Slides>
  <Notes>25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25</vt:i4>
      </vt:variant>
    </vt:vector>
  </HeadingPairs>
  <TitlesOfParts>
    <vt:vector size="36" baseType="lpstr">
      <vt:lpstr>Arial</vt:lpstr>
      <vt:lpstr>Arial Black</vt:lpstr>
      <vt:lpstr>Calibri</vt:lpstr>
      <vt:lpstr>Gill Sans MT</vt:lpstr>
      <vt:lpstr>Times New Roman</vt:lpstr>
      <vt:lpstr>Tw Cen MT</vt:lpstr>
      <vt:lpstr>Verdana</vt:lpstr>
      <vt:lpstr>Wingdings</vt:lpstr>
      <vt:lpstr>Wingdings 2</vt:lpstr>
      <vt:lpstr>WidescreenPresentation</vt:lpstr>
      <vt:lpstr>Solstice</vt:lpstr>
      <vt:lpstr>Object Oriented Programming using Java (ECSE102L)</vt:lpstr>
      <vt:lpstr>Outline</vt:lpstr>
      <vt:lpstr>Queue </vt:lpstr>
      <vt:lpstr>Queue (Cont…)</vt:lpstr>
      <vt:lpstr>Queue (Cont…)</vt:lpstr>
      <vt:lpstr>Uses of Queue in Computing </vt:lpstr>
      <vt:lpstr>Operations on Queue</vt:lpstr>
      <vt:lpstr>Operations on Queue (Cont…)</vt:lpstr>
      <vt:lpstr>Implementation of Queue</vt:lpstr>
      <vt:lpstr>Implementation of Queue (Cont…)</vt:lpstr>
      <vt:lpstr>Implementation of Queue (Cont…)</vt:lpstr>
      <vt:lpstr>Implementation of Queue (Cont…)</vt:lpstr>
      <vt:lpstr>Problem of Normal Queue </vt:lpstr>
      <vt:lpstr>Problem of Normal Queue (Cont…)</vt:lpstr>
      <vt:lpstr>Solution of the Problem of Normal Queue</vt:lpstr>
      <vt:lpstr>Circular Queue</vt:lpstr>
      <vt:lpstr>Circular Queue (Cont…)</vt:lpstr>
      <vt:lpstr>Circular Queue (Cont…)</vt:lpstr>
      <vt:lpstr>Circular Queue (Cont…)</vt:lpstr>
      <vt:lpstr>Circular Queue (Cont…)</vt:lpstr>
      <vt:lpstr>Circular Queue (Cont…)</vt:lpstr>
      <vt:lpstr>Priority Queue</vt:lpstr>
      <vt:lpstr>Priority Queue (Cont…)</vt:lpstr>
      <vt:lpstr>Priority Queue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2012-12-10T10:37:09Z</dcterms:created>
  <dcterms:modified xsi:type="dcterms:W3CDTF">2020-02-03T20:05:25Z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