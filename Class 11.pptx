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  <p:sldMasterId id="2147483660" r:id="rId2"/>
  </p:sldMasterIdLst>
  <p:notesMasterIdLst>
    <p:notesMasterId r:id="rId26"/>
  </p:notesMasterIdLst>
  <p:handoutMasterIdLst>
    <p:handoutMasterId r:id="rId27"/>
  </p:handoutMasterIdLst>
  <p:sldIdLst>
    <p:sldId id="283" r:id="rId3"/>
    <p:sldId id="375" r:id="rId4"/>
    <p:sldId id="794" r:id="rId5"/>
    <p:sldId id="795" r:id="rId6"/>
    <p:sldId id="796" r:id="rId7"/>
    <p:sldId id="797" r:id="rId8"/>
    <p:sldId id="798" r:id="rId9"/>
    <p:sldId id="799" r:id="rId10"/>
    <p:sldId id="800" r:id="rId11"/>
    <p:sldId id="801" r:id="rId12"/>
    <p:sldId id="802" r:id="rId13"/>
    <p:sldId id="803" r:id="rId14"/>
    <p:sldId id="814" r:id="rId15"/>
    <p:sldId id="815" r:id="rId16"/>
    <p:sldId id="804" r:id="rId17"/>
    <p:sldId id="812" r:id="rId18"/>
    <p:sldId id="805" r:id="rId19"/>
    <p:sldId id="813" r:id="rId20"/>
    <p:sldId id="806" r:id="rId21"/>
    <p:sldId id="807" r:id="rId22"/>
    <p:sldId id="808" r:id="rId23"/>
    <p:sldId id="809" r:id="rId24"/>
    <p:sldId id="261" r:id="rId25"/>
  </p:sldIdLst>
  <p:sldSz cx="9144000" cy="5143500" type="screen16x9"/>
  <p:notesSz cx="6858000" cy="9144000"/>
  <p:defaultTextStyle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44" autoAdjust="0"/>
    <p:restoredTop sz="94353" autoAdjust="0"/>
  </p:normalViewPr>
  <p:slideViewPr>
    <p:cSldViewPr>
      <p:cViewPr varScale="1">
        <p:scale>
          <a:sx n="91" d="100"/>
          <a:sy n="91" d="100"/>
        </p:scale>
        <p:origin x="642" y="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52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308"/>
    </p:cViewPr>
  </p:sorterViewPr>
  <p:notesViewPr>
    <p:cSldViewPr>
      <p:cViewPr varScale="1">
        <p:scale>
          <a:sx n="56" d="100"/>
          <a:sy n="56" d="100"/>
        </p:scale>
        <p:origin x="-2544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7CCEC-F375-47DE-A104-C51D471F5D4A}" type="datetimeFigureOut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CIA Group, NIT Silchar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A8795-897B-48CF-9E16-76DD5A1A90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019695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  <a:extLst/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  <a:extLst/>
          </a:lstStyle>
          <a:p>
            <a:fld id="{A8ADFD5B-A66C-449C-B6E8-FB716D07777D}" type="datetimeFigureOut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  <a:extLst/>
          </a:lstStyle>
          <a:p>
            <a:r>
              <a:rPr lang="en-US"/>
              <a:t>CIA Group, NIT Silchar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  <a:extLst/>
          </a:lstStyle>
          <a:p>
            <a:fld id="{CA5D3BF3-D352-46FC-8343-31F56E6730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912607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8ADFD5B-A66C-449C-B6E8-FB716D07777D}" type="datetimeFigureOut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491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153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653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292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6315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116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6325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7234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0754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088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2786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4314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6758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4712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3964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2015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2891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6994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8955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4966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5339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8B4435BD-B0AE-4783-8DAA-2C1BEA779722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CIA Group, NIT Silchar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/>
          <a:lstStyle>
            <a:lvl1pPr marL="0" indent="0" algn="l">
              <a:buNone/>
              <a:defRPr sz="28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7D9E0201-1172-46A8-B449-C16CA273C4C0}" type="datetime1">
              <a:rPr lang="en-US" smtClean="0">
                <a:solidFill>
                  <a:srgbClr val="FFFFFF"/>
                </a:solidFill>
              </a:rPr>
              <a:pPr algn="ctr"/>
              <a:t>1/28/2020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  <a:extLst/>
          </a:lstStyle>
          <a:p>
            <a:pPr algn="r"/>
            <a:r>
              <a:rPr lang="sv-SE">
                <a:solidFill>
                  <a:schemeClr val="tx2"/>
                </a:solidFill>
              </a:rPr>
              <a:t>Comprehensive Examination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/>
          <a:lstStyle>
            <a:lvl1pPr>
              <a:defRPr cap="all" baseline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6CF04-9D38-4138-96FE-8590975F0570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  <a:extLst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0BA6-F9BC-4237-A171-55B2A5EA49AC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2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7BB07DAD-E28C-4101-A1A4-96E7BC35467B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sv-SE"/>
              <a:t>Comprehensive Examination</a:t>
            </a:r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6D69AE0B-12EF-42DE-B742-20E75D13F465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>
              <a:buFontTx/>
              <a:buNone/>
              <a:defRPr sz="2000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>
              <a:buFontTx/>
              <a:buNone/>
              <a:defRPr sz="2000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20636-CDAB-48CF-9828-BF9910A1BB53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8649A-142D-4661-9B46-41CD3A9827AE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>
              <a:buNone/>
              <a:defRPr sz="4200" b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FF55C-8DA9-42A6-9B12-54705FFFEF92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>
              <a:buNone/>
              <a:defRPr sz="3200"/>
            </a:lvl1pPr>
            <a:extLst/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/>
          <a:p>
            <a:fld id="{DC3FF209-DE36-4729-95CB-0AA76895932A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>
              <a:defRPr sz="2800"/>
            </a:lvl1pPr>
            <a:extLst/>
          </a:lstStyle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/>
          <a:p>
            <a:r>
              <a:rPr lang="sv-SE"/>
              <a:t>Comprehensive Examination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269923"/>
            <a:ext cx="7406640" cy="1104138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387548"/>
            <a:ext cx="7406640" cy="131445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67CD7FE0-7A06-4323-A633-093765BF90D0}" type="datetime1">
              <a:rPr lang="en-US" smtClean="0">
                <a:solidFill>
                  <a:srgbClr val="FFFFFF"/>
                </a:solidFill>
              </a:rPr>
              <a:pPr algn="ctr"/>
              <a:t>1/28/2020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sv-SE">
                <a:solidFill>
                  <a:schemeClr val="tx2"/>
                </a:solidFill>
              </a:rPr>
              <a:t>Comprehensive Examination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921433" y="1060352"/>
            <a:ext cx="210312" cy="15773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008762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 Black" pitchFamily="34" charset="0"/>
              </a:defRPr>
            </a:lvl1pPr>
            <a:extLst/>
          </a:lstStyle>
          <a:p>
            <a:fld id="{E25FD23A-F8F8-4D69-A395-0AF2E89CE2FE}" type="datetime1">
              <a:rPr lang="en-US" smtClean="0"/>
              <a:pPr/>
              <a:t>1/28/2020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 Black" pitchFamily="34" charset="0"/>
              </a:defRPr>
            </a:lvl1pPr>
            <a:extLst/>
          </a:lstStyle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 Black" pitchFamily="34" charset="0"/>
              </a:defRPr>
            </a:lvl1pPr>
            <a:extLst/>
          </a:lstStyle>
          <a:p>
            <a:fld id="{8379391B-7504-45C9-9DE3-8766B2043D5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41"/>
            <a:ext cx="68580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1950244"/>
            <a:ext cx="6400800" cy="17145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800100"/>
            <a:ext cx="6400800" cy="1132284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4E1A9-E001-42AC-A12F-6AE7E6ACAE3C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2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110992"/>
            <a:ext cx="210312" cy="15773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059403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C0CAF-2C82-460F-90D1-C2C7BBC7E712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70252"/>
            <a:ext cx="8229600" cy="85725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46209"/>
            <a:ext cx="4023360" cy="48006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246209"/>
            <a:ext cx="4023360" cy="48006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727002"/>
            <a:ext cx="4023360" cy="30861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727002"/>
            <a:ext cx="4023360" cy="30861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89E26-1FCC-4B3F-B660-C2B03C75462E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AAF2D-C4FA-4AD1-B9C5-541A2E6970C2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51435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B0D40-64F2-4F15-9F14-A1518D69498A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2583"/>
            <a:ext cx="3810000" cy="871538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055223"/>
            <a:ext cx="3810000" cy="523875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8153400" cy="29944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EF6F-9573-4DF5-91E4-4DE0B495F90F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800100"/>
            <a:ext cx="2743200" cy="14859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42512-B60A-4109-B5B7-BD8026229EC1}" type="datetime1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800" dirty="0"/>
          </a:p>
        </p:txBody>
      </p:sp>
      <p:sp>
        <p:nvSpPr>
          <p:cNvPr id="8" name="Rectangle 7"/>
          <p:cNvSpPr/>
          <p:nvPr/>
        </p:nvSpPr>
        <p:spPr>
          <a:xfrm>
            <a:off x="762000" y="800100"/>
            <a:ext cx="4572000" cy="3429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857253"/>
            <a:ext cx="4419600" cy="2635898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715756"/>
            <a:ext cx="685800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702589"/>
            <a:ext cx="649224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3600450"/>
            <a:ext cx="4419600" cy="5715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C59F6-45D1-4175-A54A-8AB8C4EE273E}" type="datetime1">
              <a:rPr lang="en-US" smtClean="0"/>
              <a:pPr/>
              <a:t>1/28/2020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05979"/>
            <a:ext cx="1828800" cy="4388644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05980"/>
            <a:ext cx="5562600" cy="438864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AC681-2384-4687-86E8-D9B3D82CEF60}" type="datetime1">
              <a:rPr lang="en-US" smtClean="0"/>
              <a:pPr/>
              <a:t>1/28/2020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>
              <a:defRPr sz="1400">
                <a:solidFill>
                  <a:schemeClr val="tx2"/>
                </a:solidFill>
              </a:defRPr>
            </a:lvl1pPr>
            <a:extLst/>
          </a:lstStyle>
          <a:p>
            <a:fld id="{DA7DA67F-3754-43B5-87B0-B6D0DE63B7D4}" type="datetime1">
              <a:rPr lang="en-US" smtClean="0"/>
              <a:pPr/>
              <a:t>1/28/2020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>
              <a:defRPr sz="1400">
                <a:solidFill>
                  <a:schemeClr val="tx2"/>
                </a:solidFill>
              </a:defRPr>
            </a:lvl1pPr>
            <a:extLst/>
          </a:lstStyle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>
    <p:fade/>
  </p:transition>
  <p:hf hdr="0"/>
  <p:txStyles>
    <p:titleStyle>
      <a:lvl1pPr algn="l" rtl="0" eaLnBrk="1" latinLnBrk="0" hangingPunct="1">
        <a:spcBef>
          <a:spcPct val="0"/>
        </a:spcBef>
        <a:buNone/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611941"/>
            <a:ext cx="1638887" cy="1229165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7" y="15827"/>
            <a:ext cx="1702191" cy="1276643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791308"/>
            <a:ext cx="1125717" cy="826968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41"/>
            <a:ext cx="8131127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D91CAD21-3FB9-4A34-A2B6-4B037A24C587}" type="datetime1">
              <a:rPr lang="en-US" smtClean="0"/>
              <a:pPr/>
              <a:t>1/28/2020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fade/>
  </p:transition>
  <p:hf hdr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2400" y="1962150"/>
            <a:ext cx="9601200" cy="838200"/>
          </a:xfrm>
        </p:spPr>
        <p:txBody>
          <a:bodyPr>
            <a:no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algn="ctr"/>
            <a:r>
              <a:rPr lang="en-US" sz="3200" b="1" cap="none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Object Oriented Programming using Java (ECSE102L)</a:t>
            </a:r>
            <a:endParaRPr lang="en-US" sz="3200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1333500" y="4286250"/>
            <a:ext cx="6972300" cy="800100"/>
          </a:xfrm>
        </p:spPr>
        <p:txBody>
          <a:bodyPr>
            <a:noAutofit/>
          </a:bodyPr>
          <a:lstStyle/>
          <a:p>
            <a:pPr algn="ctr"/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Calibri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00150"/>
            <a:ext cx="7485888" cy="3657600"/>
          </a:xfrm>
        </p:spPr>
        <p:txBody>
          <a:bodyPr>
            <a:normAutofit/>
          </a:bodyPr>
          <a:lstStyle/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Searching </a:t>
            </a: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Linear Search  </a:t>
            </a: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Binary Search</a:t>
            </a: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Comparisons between Linear Search and Binary Search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272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Searching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collection of element. We need to find an element (key).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is used to find any element from a collection of elements.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of elements. </a:t>
            </a:r>
          </a:p>
          <a:p>
            <a:pPr marL="82296" indent="0" algn="just"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Output: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 or Not Found. Return a value. </a:t>
            </a:r>
          </a:p>
          <a:p>
            <a:pPr marL="82296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813729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Linear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The linear search is a sequential search, which uses a loop to step through an array, starting with the first element.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It compares each element with the element that we are searching for.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It stops, when we find the element or all the elements are searched (not found).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4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435097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Linear Search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Since the array elements are stored in linear order searching the element in the linear order make it easy and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collection of elements is ordered, we might not have to look at all elements.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5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924916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Linear Search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Algorithm </a:t>
            </a:r>
          </a:p>
          <a:p>
            <a:pPr marL="82296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Step 1: </a:t>
            </a: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Set the first element as the current element.</a:t>
            </a:r>
          </a:p>
          <a:p>
            <a:pPr marL="82296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Step 2: </a:t>
            </a: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Compare the current element with the target/desire element. If matches, then go to step 5.</a:t>
            </a:r>
          </a:p>
          <a:p>
            <a:pPr marL="82296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Step 3: </a:t>
            </a: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If there is a next element, then set current element to next element and go to Step 2.</a:t>
            </a:r>
          </a:p>
          <a:p>
            <a:pPr marL="82296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Step 4: </a:t>
            </a: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Target element not found. Go to Step 6.</a:t>
            </a:r>
          </a:p>
          <a:p>
            <a:pPr marL="82296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Step 5: </a:t>
            </a: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Target element found and return location.</a:t>
            </a:r>
          </a:p>
          <a:p>
            <a:pPr marL="82296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Step 6: </a:t>
            </a: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Exit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6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353932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Linear Search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Advantages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It is very easy to understand and implement.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Elements need not to be sorted.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4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Disadvantages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very poor efficiency because it takes lots of comparisons to find an element.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search is slower than other searching algorithms.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7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714612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Linear Search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Example: </a:t>
            </a: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Searching 10</a:t>
            </a:r>
          </a:p>
          <a:p>
            <a:pPr marL="82296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8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E8C48F0F-B044-4062-A8F7-D5380E44CB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654" y="1261689"/>
            <a:ext cx="6058746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45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Linear Search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9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6" name="Picture 5" descr="A picture containing bird&#10;&#10;Description automatically generated">
            <a:extLst>
              <a:ext uri="{FF2B5EF4-FFF2-40B4-BE49-F238E27FC236}">
                <a16:creationId xmlns:a16="http://schemas.microsoft.com/office/drawing/2014/main" id="{EB3BF50E-BD16-4447-A4C4-36056FB080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4896" y="788408"/>
            <a:ext cx="6325483" cy="435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08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Linear Search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Output: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Element is present in </a:t>
            </a:r>
            <a:r>
              <a:rPr lang="en-US" sz="2000" dirty="0" err="1">
                <a:latin typeface="Times New Roman" panose="02020603050405020304" pitchFamily="18" charset="0"/>
                <a:cs typeface="Times New Roman" pitchFamily="18" charset="0"/>
              </a:rPr>
              <a:t>my_array</a:t>
            </a: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 and index is 4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632328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Linear Search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Analysis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Best Case: O(1)</a:t>
            </a:r>
          </a:p>
          <a:p>
            <a:pPr lvl="1"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Worst Case: O(N)</a:t>
            </a:r>
            <a:endParaRPr lang="en-US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11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4205396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Binary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Binary search requires a sorted array.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Binary search cuts the “search space” in half each time.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Binary search cuts “search space” in half until the target element is found or has exhausted the all possible locations.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It uses the concept of Divide and Conquer Algorithm.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315524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Binary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Divide and Conquer Algorithm: </a:t>
            </a: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There are three steps in divide and conquer algorithm:</a:t>
            </a:r>
            <a:endParaRPr lang="en-US" sz="2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itchFamily="18" charset="0"/>
              </a:rPr>
              <a:t>Divide: </a:t>
            </a: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In this step, a problem is divided into smaller sub-problems. This procedure is recursively executed. 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itchFamily="18" charset="0"/>
              </a:rPr>
              <a:t>Conquer: </a:t>
            </a: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Here, all the sub-problems are solved. 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itchFamily="18" charset="0"/>
              </a:rPr>
              <a:t>Combine: </a:t>
            </a: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In this step, all the results are recursively combined until they formulate a solution of the original problem. 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861369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Binary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Divide and Conquer Algorithm (</a:t>
            </a:r>
            <a:r>
              <a:rPr lang="en-US" sz="2400" b="1" dirty="0" err="1">
                <a:latin typeface="Times New Roman" panose="02020603050405020304" pitchFamily="18" charset="0"/>
                <a:cs typeface="Times New Roman" pitchFamily="18" charset="0"/>
              </a:rPr>
              <a:t>Cont</a:t>
            </a: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…)</a:t>
            </a:r>
          </a:p>
          <a:p>
            <a:pPr marL="82296" indent="0" algn="just">
              <a:buNone/>
            </a:pPr>
            <a:endParaRPr lang="en-US" sz="2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14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8" name="Picture 7" descr="A close up of a keyboard&#10;&#10;Description automatically generated">
            <a:extLst>
              <a:ext uri="{FF2B5EF4-FFF2-40B4-BE49-F238E27FC236}">
                <a16:creationId xmlns:a16="http://schemas.microsoft.com/office/drawing/2014/main" id="{23C2F29C-F57B-462E-9E30-A7DE1BECB7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1357312"/>
            <a:ext cx="5097936" cy="372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8660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Binary Search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Algorithm of Binary Search </a:t>
            </a:r>
          </a:p>
          <a:p>
            <a:pPr marL="82296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itchFamily="18" charset="0"/>
              </a:rPr>
              <a:t>Step 1: </a:t>
            </a: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Find middle element of the sorted array.</a:t>
            </a:r>
          </a:p>
          <a:p>
            <a:pPr marL="82296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itchFamily="18" charset="0"/>
              </a:rPr>
              <a:t>Step 2: </a:t>
            </a: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Compare the value of the middle element with the target element.</a:t>
            </a:r>
          </a:p>
          <a:p>
            <a:pPr marL="82296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itchFamily="18" charset="0"/>
              </a:rPr>
              <a:t>Step 3: </a:t>
            </a: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If they match, it is returned.</a:t>
            </a:r>
          </a:p>
          <a:p>
            <a:pPr marL="82296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itchFamily="18" charset="0"/>
              </a:rPr>
              <a:t>Step 4: </a:t>
            </a: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If the value is less or greater than the target element, the search continues in the lower or upper half of the array.</a:t>
            </a:r>
          </a:p>
          <a:p>
            <a:pPr marL="82296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itchFamily="18" charset="0"/>
              </a:rPr>
              <a:t>Step 5: </a:t>
            </a: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The same procedure mentioned in step 2-4 continues, but with the smaller part (half) of the array. The procedure continues until the target element is found or all the elements are searched.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15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743368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Binary Search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Advantages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It is fast.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Disadvantages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The elements must be sorted.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Complex.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16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4135162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Binary Search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Example: </a:t>
            </a: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Searching 20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17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AC7BA0-2A96-419E-A544-48267AAB39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3019" y="1276350"/>
            <a:ext cx="5973009" cy="367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024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Binary Search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Example (</a:t>
            </a:r>
            <a:r>
              <a:rPr lang="en-US" sz="2400" b="1" dirty="0" err="1">
                <a:latin typeface="Times New Roman" panose="02020603050405020304" pitchFamily="18" charset="0"/>
                <a:cs typeface="Times New Roman" pitchFamily="18" charset="0"/>
              </a:rPr>
              <a:t>Cont</a:t>
            </a: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…):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How many search is required to find element 87 by using binary search?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18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7F355F72-E930-441C-AC47-745838D6CD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154076"/>
              </p:ext>
            </p:extLst>
          </p:nvPr>
        </p:nvGraphicFramePr>
        <p:xfrm>
          <a:off x="1485900" y="2952750"/>
          <a:ext cx="72009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49563104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45465198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551838832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103083133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26714725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710002029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419288359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7639913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7270252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15942265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4351911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90995273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1670761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25682467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3867539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4192075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4325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9474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Binary Search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19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A4B78C-3A47-481B-B4B1-C2DF0CABEF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4465" y="666750"/>
            <a:ext cx="4493269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0395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Binary Search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Output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402336" lvl="1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Element is found at index: 5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2462727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Binary Search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Analysis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Best Case: O(1)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Worst Case: O(log</a:t>
            </a:r>
            <a:r>
              <a:rPr lang="en-US" sz="1000" dirty="0">
                <a:latin typeface="Times New Roman" panose="02020603050405020304" pitchFamily="18" charset="0"/>
                <a:cs typeface="Times New Roman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N)</a:t>
            </a:r>
          </a:p>
          <a:p>
            <a:pPr lvl="2" algn="just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 Divide the elements until we find the target key.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2" algn="just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In each comparison, we divide the array into ½. 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21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7588729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Comparisons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endParaRPr lang="en-US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3B1585DC-0C5F-4409-B5F8-30FE961BA6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913685"/>
              </p:ext>
            </p:extLst>
          </p:nvPr>
        </p:nvGraphicFramePr>
        <p:xfrm>
          <a:off x="1752600" y="1327752"/>
          <a:ext cx="6708648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4324">
                  <a:extLst>
                    <a:ext uri="{9D8B030D-6E8A-4147-A177-3AD203B41FA5}">
                      <a16:colId xmlns:a16="http://schemas.microsoft.com/office/drawing/2014/main" val="2829688433"/>
                    </a:ext>
                  </a:extLst>
                </a:gridCol>
                <a:gridCol w="3354324">
                  <a:extLst>
                    <a:ext uri="{9D8B030D-6E8A-4147-A177-3AD203B41FA5}">
                      <a16:colId xmlns:a16="http://schemas.microsoft.com/office/drawing/2014/main" val="34229018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 Search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903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Sorted array is not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 must be sorted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354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707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complexity 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complexity O(Log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665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efficient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3118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84833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BDC88-5686-4D8C-A45E-430AC6155FF9}" type="datetime1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1/28/2020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sv-SE">
                <a:latin typeface="Times New Roman" pitchFamily="18" charset="0"/>
                <a:cs typeface="Times New Roman" pitchFamily="18" charset="0"/>
              </a:rPr>
              <a:t>Comprehensive Examination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lnSpcReduction="10000"/>
          </a:bodyPr>
          <a:lstStyle/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 algn="ctr"/>
              <a:t>23</a:t>
            </a:fld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014" y="2985191"/>
            <a:ext cx="5126986" cy="2158309"/>
          </a:xfrm>
          <a:prstGeom prst="rect">
            <a:avLst/>
          </a:prstGeom>
        </p:spPr>
      </p:pic>
      <p:pic>
        <p:nvPicPr>
          <p:cNvPr id="10" name="Picture 9" descr="263762-frederika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962400" y="0"/>
            <a:ext cx="5181600" cy="3028950"/>
          </a:xfrm>
          <a:prstGeom prst="rect">
            <a:avLst/>
          </a:prstGeom>
        </p:spPr>
      </p:pic>
      <p:pic>
        <p:nvPicPr>
          <p:cNvPr id="13" name="Picture 12" descr="10426693503_00e4413427_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4038599" cy="514350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WidescreenPresentation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0</TotalTime>
  <Words>962</Words>
  <Application>Microsoft Office PowerPoint</Application>
  <PresentationFormat>On-screen Show (16:9)</PresentationFormat>
  <Paragraphs>320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Arial Black</vt:lpstr>
      <vt:lpstr>Calibri</vt:lpstr>
      <vt:lpstr>Gill Sans MT</vt:lpstr>
      <vt:lpstr>Times New Roman</vt:lpstr>
      <vt:lpstr>Tw Cen MT</vt:lpstr>
      <vt:lpstr>Verdana</vt:lpstr>
      <vt:lpstr>Wingdings</vt:lpstr>
      <vt:lpstr>Wingdings 2</vt:lpstr>
      <vt:lpstr>WidescreenPresentation</vt:lpstr>
      <vt:lpstr>Solstice</vt:lpstr>
      <vt:lpstr>Object Oriented Programming using Java (ECSE102L)</vt:lpstr>
      <vt:lpstr>Outline</vt:lpstr>
      <vt:lpstr>Searching </vt:lpstr>
      <vt:lpstr>Linear Search</vt:lpstr>
      <vt:lpstr>Linear Search (Cont…) </vt:lpstr>
      <vt:lpstr>Linear Search (Cont…) </vt:lpstr>
      <vt:lpstr>Linear Search (Cont…) </vt:lpstr>
      <vt:lpstr>Linear Search (Cont…) </vt:lpstr>
      <vt:lpstr>Linear Search (Cont…) </vt:lpstr>
      <vt:lpstr>Linear Search (Cont…) </vt:lpstr>
      <vt:lpstr>Linear Search (Cont…) </vt:lpstr>
      <vt:lpstr>Binary Search</vt:lpstr>
      <vt:lpstr>Binary Search</vt:lpstr>
      <vt:lpstr>Binary Search</vt:lpstr>
      <vt:lpstr>Binary Search (Cont…)</vt:lpstr>
      <vt:lpstr>Binary Search (Cont…)</vt:lpstr>
      <vt:lpstr>Binary Search (Cont…)</vt:lpstr>
      <vt:lpstr>Binary Search (Cont…)</vt:lpstr>
      <vt:lpstr>Binary Search (Cont…)</vt:lpstr>
      <vt:lpstr>Binary Search (Cont…)</vt:lpstr>
      <vt:lpstr>Binary Search (Cont…)</vt:lpstr>
      <vt:lpstr>Comparisons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2012-12-10T10:37:09Z</dcterms:created>
  <dcterms:modified xsi:type="dcterms:W3CDTF">2020-01-28T14:12:13Z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1033</vt:i4>
  </property>
  <property fmtid="{D5CDD505-2E9C-101B-9397-08002B2CF9AE}" pid="3" name="_Version">
    <vt:lpwstr>12.0.4518</vt:lpwstr>
  </property>
</Properties>
</file>