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1"/>
  </p:notesMasterIdLst>
  <p:handoutMasterIdLst>
    <p:handoutMasterId r:id="rId32"/>
  </p:handoutMasterIdLst>
  <p:sldIdLst>
    <p:sldId id="283" r:id="rId3"/>
    <p:sldId id="375" r:id="rId4"/>
    <p:sldId id="794" r:id="rId5"/>
    <p:sldId id="878" r:id="rId6"/>
    <p:sldId id="879" r:id="rId7"/>
    <p:sldId id="881" r:id="rId8"/>
    <p:sldId id="880" r:id="rId9"/>
    <p:sldId id="883" r:id="rId10"/>
    <p:sldId id="884" r:id="rId11"/>
    <p:sldId id="885" r:id="rId12"/>
    <p:sldId id="886" r:id="rId13"/>
    <p:sldId id="887" r:id="rId14"/>
    <p:sldId id="888" r:id="rId15"/>
    <p:sldId id="889" r:id="rId16"/>
    <p:sldId id="890" r:id="rId17"/>
    <p:sldId id="891" r:id="rId18"/>
    <p:sldId id="892" r:id="rId19"/>
    <p:sldId id="893" r:id="rId20"/>
    <p:sldId id="894" r:id="rId21"/>
    <p:sldId id="898" r:id="rId22"/>
    <p:sldId id="899" r:id="rId23"/>
    <p:sldId id="895" r:id="rId24"/>
    <p:sldId id="896" r:id="rId25"/>
    <p:sldId id="897" r:id="rId26"/>
    <p:sldId id="900" r:id="rId27"/>
    <p:sldId id="901" r:id="rId28"/>
    <p:sldId id="902" r:id="rId29"/>
    <p:sldId id="261" r:id="rId30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5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47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167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45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29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947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347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776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090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490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93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769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852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08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21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151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20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408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2/5/2020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2/5/2020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2/5/2020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2/5/2020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2/5/2020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2/5/2020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2/5/2020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8153400" cy="4114800"/>
          </a:xfrm>
        </p:spPr>
        <p:txBody>
          <a:bodyPr>
            <a:normAutofit/>
          </a:bodyPr>
          <a:lstStyle/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Loops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Clr>
                <a:srgbClr val="0070C0"/>
              </a:buCl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1060704" lvl="2" indent="-457200" algn="just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is a resizable array, which can be found in the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a normal array and an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Java, </a:t>
            </a:r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that the size of an array cannot be modified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we want to add or remove elements to/from an array, we have to create a new one).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elements can be added and removed from an </a:t>
            </a:r>
            <a:r>
              <a:rPr lang="en-GB" alt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whenever we want. 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372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randomly access the list.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not be used for primitive types, like int, char, etc. We need a wrapper class.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(): This constructor is used to assign an empty array list.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(Collection c): This constructor is used to build an array list initialized with the elements from collection c.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(int capacity): This constructor is used to build an array list with an initial capacity.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4180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402336" lvl="1" indent="0" algn="just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called cars that will store strings:</a:t>
            </a:r>
          </a:p>
          <a:p>
            <a:pPr marL="402336" lvl="1" indent="0" algn="just">
              <a:buNone/>
            </a:pPr>
            <a:endParaRPr lang="en-GB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GB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java.util.ArrayList</a:t>
            </a: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// Import the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  <a:p>
            <a:pPr marL="402336" lvl="1" indent="0" algn="just">
              <a:buNone/>
            </a:pPr>
            <a:endParaRPr lang="en-GB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GB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 cars = new </a:t>
            </a:r>
            <a:r>
              <a:rPr lang="en-GB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&lt;String&gt;();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// Create an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7313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D8-08DA-41CC-A256-272F9CD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814158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DCC0-7602-4934-840D-CAE21E76E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054418"/>
            <a:ext cx="3505200" cy="35861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altLang="en-US" sz="24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class has many useful methods. For example, to add elements to the </a:t>
            </a:r>
            <a:r>
              <a:rPr lang="en-US" altLang="en-US" sz="24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use the </a:t>
            </a:r>
            <a:r>
              <a:rPr lang="en-US" altLang="en-US" sz="2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add()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method:</a:t>
            </a:r>
          </a:p>
          <a:p>
            <a:endParaRPr lang="en-IN" sz="2400" dirty="0"/>
          </a:p>
        </p:txBody>
      </p:sp>
      <p:pic>
        <p:nvPicPr>
          <p:cNvPr id="11" name="Content Placeholder 10" descr="A picture containing bird&#10;&#10;Description automatically generated">
            <a:extLst>
              <a:ext uri="{FF2B5EF4-FFF2-40B4-BE49-F238E27FC236}">
                <a16:creationId xmlns:a16="http://schemas.microsoft.com/office/drawing/2014/main" id="{263ABA28-57EE-4C50-8FE0-BE0C26A38C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43000"/>
            <a:ext cx="4572000" cy="3586162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4CCED-848D-45E8-86B2-03343290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81550"/>
            <a:ext cx="457200" cy="357188"/>
          </a:xfrm>
        </p:spPr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6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6346962-EA18-4EA4-A9C1-68EF76E3C75E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45A637D-F8F8-42E7-A068-623900262AE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9315582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[Volvo, BMW, Ford, Mazda]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59705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D8-08DA-41CC-A256-272F9CD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814158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DCC0-7602-4934-840D-CAE21E76E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054418"/>
            <a:ext cx="3505200" cy="35861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an element in the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the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and refer to the index number:</a:t>
            </a:r>
          </a:p>
          <a:p>
            <a:pPr marL="82296" indent="0"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cars.get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(3);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4CCED-848D-45E8-86B2-03343290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81550"/>
            <a:ext cx="457200" cy="357188"/>
          </a:xfrm>
        </p:spPr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8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6346962-EA18-4EA4-A9C1-68EF76E3C75E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45A637D-F8F8-42E7-A068-623900262AE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0" name="Content Placeholder 9" descr="A picture containing indoor, bird&#10;&#10;Description automatically generated">
            <a:extLst>
              <a:ext uri="{FF2B5EF4-FFF2-40B4-BE49-F238E27FC236}">
                <a16:creationId xmlns:a16="http://schemas.microsoft.com/office/drawing/2014/main" id="{F2731E11-3D78-4368-8C49-D51135F8ED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172" y="1171099"/>
            <a:ext cx="4636380" cy="3352800"/>
          </a:xfrm>
        </p:spPr>
      </p:pic>
    </p:spTree>
    <p:extLst>
      <p:ext uri="{BB962C8B-B14F-4D97-AF65-F5344CB8AC3E}">
        <p14:creationId xmlns:p14="http://schemas.microsoft.com/office/powerpoint/2010/main" val="63577332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Mazda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87738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D8-08DA-41CC-A256-272F9CD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814158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DCC0-7602-4934-840D-CAE21E76E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054418"/>
            <a:ext cx="3505200" cy="35861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modify an element, use the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and refer to the index number:</a:t>
            </a:r>
          </a:p>
          <a:p>
            <a:pPr marL="82296" indent="0" algn="ctr">
              <a:buNone/>
            </a:pP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cars.set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 “Suzuki");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4CCED-848D-45E8-86B2-03343290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81550"/>
            <a:ext cx="457200" cy="357188"/>
          </a:xfrm>
        </p:spPr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10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6346962-EA18-4EA4-A9C1-68EF76E3C75E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45A637D-F8F8-42E7-A068-623900262AE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1" name="Content Placeholder 10" descr="A picture containing indoor, bird&#10;&#10;Description automatically generated">
            <a:extLst>
              <a:ext uri="{FF2B5EF4-FFF2-40B4-BE49-F238E27FC236}">
                <a16:creationId xmlns:a16="http://schemas.microsoft.com/office/drawing/2014/main" id="{F583004D-4BE8-44A1-AC71-424B3729BA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474" y="1200150"/>
            <a:ext cx="4667250" cy="3429000"/>
          </a:xfrm>
        </p:spPr>
      </p:pic>
    </p:spTree>
    <p:extLst>
      <p:ext uri="{BB962C8B-B14F-4D97-AF65-F5344CB8AC3E}">
        <p14:creationId xmlns:p14="http://schemas.microsoft.com/office/powerpoint/2010/main" val="1229424424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Replacing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Elelment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[Volvo, BMW, Ford, Mazda]</a:t>
            </a:r>
          </a:p>
          <a:p>
            <a:pPr marL="82296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After Replacing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Elelment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[Suzuki, BMW, Ford, Mazda]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901927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D8-08DA-41CC-A256-272F9CD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814158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DCC0-7602-4934-840D-CAE21E76E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054418"/>
            <a:ext cx="3505200" cy="35861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an element, use the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and refer to the index number:</a:t>
            </a:r>
          </a:p>
          <a:p>
            <a:pPr marL="82296" indent="0" algn="ctr">
              <a:buNone/>
            </a:pP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cars.remove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(0);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4CCED-848D-45E8-86B2-03343290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81550"/>
            <a:ext cx="457200" cy="357188"/>
          </a:xfrm>
        </p:spPr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12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6346962-EA18-4EA4-A9C1-68EF76E3C75E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45A637D-F8F8-42E7-A068-623900262AE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0" name="Content Placeholder 9" descr="A picture containing bird&#10;&#10;Description automatically generated">
            <a:extLst>
              <a:ext uri="{FF2B5EF4-FFF2-40B4-BE49-F238E27FC236}">
                <a16:creationId xmlns:a16="http://schemas.microsoft.com/office/drawing/2014/main" id="{D246DBE4-271A-4E39-AE9C-3B44DC578A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00150"/>
            <a:ext cx="4560180" cy="3657600"/>
          </a:xfrm>
        </p:spPr>
      </p:pic>
    </p:spTree>
    <p:extLst>
      <p:ext uri="{BB962C8B-B14F-4D97-AF65-F5344CB8AC3E}">
        <p14:creationId xmlns:p14="http://schemas.microsoft.com/office/powerpoint/2010/main" val="3085671871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Before Replacing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[Volvo, BMW, Ford, Mazda]</a:t>
            </a:r>
          </a:p>
          <a:p>
            <a:pPr marL="82296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Element at Position 0 is: Ford</a:t>
            </a:r>
          </a:p>
          <a:p>
            <a:pPr marL="82296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After Replacing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Elelment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[BMW, Ford, Mazda]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44563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D8-08DA-41CC-A256-272F9CD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814158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DCC0-7602-4934-840D-CAE21E76E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054418"/>
            <a:ext cx="3505200" cy="3586162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all the elements in the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the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pPr marL="82296" indent="0" algn="ctr">
              <a:buNone/>
            </a:pP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cars.clear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out how many elements an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have, use the size method:</a:t>
            </a:r>
          </a:p>
          <a:p>
            <a:pPr marL="82296" indent="0" algn="ctr">
              <a:buNone/>
            </a:pP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cars.size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82296" indent="0">
              <a:buNone/>
            </a:pP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4CCED-848D-45E8-86B2-03343290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81550"/>
            <a:ext cx="457200" cy="357188"/>
          </a:xfrm>
        </p:spPr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14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6346962-EA18-4EA4-A9C1-68EF76E3C75E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45A637D-F8F8-42E7-A068-623900262AE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1" name="Content Placeholder 10" descr="A picture containing bird&#10;&#10;Description automatically generated">
            <a:extLst>
              <a:ext uri="{FF2B5EF4-FFF2-40B4-BE49-F238E27FC236}">
                <a16:creationId xmlns:a16="http://schemas.microsoft.com/office/drawing/2014/main" id="{A2D2C6D2-5B7A-4D11-8BA7-10D5DEF316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054418"/>
            <a:ext cx="4648200" cy="3727132"/>
          </a:xfrm>
        </p:spPr>
      </p:pic>
    </p:spTree>
    <p:extLst>
      <p:ext uri="{BB962C8B-B14F-4D97-AF65-F5344CB8AC3E}">
        <p14:creationId xmlns:p14="http://schemas.microsoft.com/office/powerpoint/2010/main" val="701417826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Elements : [Volvo, BMW, Ford, Mazda]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at Position 1 is : BMW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cars is : 4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car are (after Clear) : []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cars after clear is : 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6230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D8-08DA-41CC-A256-272F9CD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814158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in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DCC0-7602-4934-840D-CAE21E76E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054418"/>
            <a:ext cx="3505200" cy="35861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the elements of an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for loop, and use the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to specify how many times the loop should run.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4CCED-848D-45E8-86B2-03343290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81550"/>
            <a:ext cx="457200" cy="357188"/>
          </a:xfrm>
        </p:spPr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16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6346962-EA18-4EA4-A9C1-68EF76E3C75E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45A637D-F8F8-42E7-A068-623900262AE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0" name="Content Placeholder 9" descr="A picture containing bird&#10;&#10;Description automatically generated">
            <a:extLst>
              <a:ext uri="{FF2B5EF4-FFF2-40B4-BE49-F238E27FC236}">
                <a16:creationId xmlns:a16="http://schemas.microsoft.com/office/drawing/2014/main" id="{BA0F0091-3C0B-4F73-BC96-050F6338A8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54418"/>
            <a:ext cx="4560180" cy="3727132"/>
          </a:xfrm>
        </p:spPr>
      </p:pic>
    </p:spTree>
    <p:extLst>
      <p:ext uri="{BB962C8B-B14F-4D97-AF65-F5344CB8AC3E}">
        <p14:creationId xmlns:p14="http://schemas.microsoft.com/office/powerpoint/2010/main" val="2769598690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in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Volvo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BMW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Ford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Mazda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124226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in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picture containing bird&#10;&#10;Description automatically generated">
            <a:extLst>
              <a:ext uri="{FF2B5EF4-FFF2-40B4-BE49-F238E27FC236}">
                <a16:creationId xmlns:a16="http://schemas.microsoft.com/office/drawing/2014/main" id="{3AFA70EF-3E41-4FB4-A641-B10131DDB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898716"/>
            <a:ext cx="5334000" cy="3771900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73328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in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Volvo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BMW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Ford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Mazda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83807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77D8-08DA-41CC-A256-272F9CD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814158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in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DCC0-7602-4934-840D-CAE21E76E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054418"/>
            <a:ext cx="3505200" cy="3586162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useful class in the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is the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 class,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include the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for sorting lists alphabetically or numerically.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4CCED-848D-45E8-86B2-03343290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81550"/>
            <a:ext cx="457200" cy="357188"/>
          </a:xfrm>
        </p:spPr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20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6346962-EA18-4EA4-A9C1-68EF76E3C75E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: Beveled 8">
            <a:extLst>
              <a:ext uri="{FF2B5EF4-FFF2-40B4-BE49-F238E27FC236}">
                <a16:creationId xmlns:a16="http://schemas.microsoft.com/office/drawing/2014/main" id="{E45A637D-F8F8-42E7-A068-623900262AE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1" name="Content Placeholder 10" descr="A picture containing bird&#10;&#10;Description automatically generated">
            <a:extLst>
              <a:ext uri="{FF2B5EF4-FFF2-40B4-BE49-F238E27FC236}">
                <a16:creationId xmlns:a16="http://schemas.microsoft.com/office/drawing/2014/main" id="{0F024875-DBBA-49CA-9875-0D32E8C3A7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2" y="1200150"/>
            <a:ext cx="4495798" cy="3581399"/>
          </a:xfrm>
        </p:spPr>
      </p:pic>
    </p:spTree>
    <p:extLst>
      <p:ext uri="{BB962C8B-B14F-4D97-AF65-F5344CB8AC3E}">
        <p14:creationId xmlns:p14="http://schemas.microsoft.com/office/powerpoint/2010/main" val="171079820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in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BMW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Ford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Mazda</a:t>
            </a:r>
          </a:p>
          <a:p>
            <a:pPr marL="603504" lvl="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Volvo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055710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8001000" cy="3657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numbers.</a:t>
            </a: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64829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picture containing bird&#10;&#10;Description automatically generated">
            <a:extLst>
              <a:ext uri="{FF2B5EF4-FFF2-40B4-BE49-F238E27FC236}">
                <a16:creationId xmlns:a16="http://schemas.microsoft.com/office/drawing/2014/main" id="{1D9F803A-9546-43D1-A788-79A32F38F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123950"/>
            <a:ext cx="5257799" cy="3429000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000950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A8CD-9C3D-44BC-BDDD-E365A66F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8141580" cy="36004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504" lvl="2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marL="603504" lvl="2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  <a:p>
            <a:pPr marL="603504" lvl="2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 marL="603504" lvl="2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54316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A8CD-9C3D-44BC-BDDD-E365A66F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8141580" cy="360045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integers and sort the elements by using sort() method. </a:t>
            </a:r>
          </a:p>
        </p:txBody>
      </p:sp>
    </p:spTree>
    <p:extLst>
      <p:ext uri="{BB962C8B-B14F-4D97-AF65-F5344CB8AC3E}">
        <p14:creationId xmlns:p14="http://schemas.microsoft.com/office/powerpoint/2010/main" val="1006667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A8CD-9C3D-44BC-BDDD-E365A66F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8141580" cy="3600450"/>
          </a:xfrm>
        </p:spPr>
        <p:txBody>
          <a:bodyPr/>
          <a:lstStyle/>
          <a:p>
            <a:pPr marL="82296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89D6D2B2-2028-49D7-9726-871FEC895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857250"/>
            <a:ext cx="48006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06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(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IN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A8CD-9C3D-44BC-BDDD-E365A66F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8141580" cy="3600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603504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Sorting: [33, 15, 20, 34, 8, 12]</a:t>
            </a:r>
          </a:p>
          <a:p>
            <a:pPr marL="603504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Sorting: 8</a:t>
            </a:r>
          </a:p>
          <a:p>
            <a:pPr marL="603504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Sorting: 12</a:t>
            </a:r>
          </a:p>
          <a:p>
            <a:pPr marL="603504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Sorting: 15</a:t>
            </a:r>
          </a:p>
          <a:p>
            <a:pPr marL="603504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Sorting: 20</a:t>
            </a:r>
          </a:p>
          <a:p>
            <a:pPr marL="603504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Sorting: 33</a:t>
            </a:r>
          </a:p>
          <a:p>
            <a:pPr marL="603504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Sorting: 34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736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2/5/2020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28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855</Words>
  <Application>Microsoft Office PowerPoint</Application>
  <PresentationFormat>On-screen Show (16:9)</PresentationFormat>
  <Paragraphs>247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Java ArrayList</vt:lpstr>
      <vt:lpstr>Java ArrayList (Cont…)</vt:lpstr>
      <vt:lpstr>Java ArrayList (Cont…)</vt:lpstr>
      <vt:lpstr>Methods of ArrayList </vt:lpstr>
      <vt:lpstr>Methods of ArrayList (Cont…)</vt:lpstr>
      <vt:lpstr>Methods of ArrayList (Cont…) </vt:lpstr>
      <vt:lpstr>Methods of ArrayList (Cont…)</vt:lpstr>
      <vt:lpstr>Methods of ArrayList (Cont…) </vt:lpstr>
      <vt:lpstr>Methods of ArrayList (Cont…)</vt:lpstr>
      <vt:lpstr>Methods of ArrayList (Cont…) </vt:lpstr>
      <vt:lpstr>Methods of ArrayList (Cont…)</vt:lpstr>
      <vt:lpstr>Methods of ArrayList (Cont…) </vt:lpstr>
      <vt:lpstr>Methods of ArrayList (Cont…)</vt:lpstr>
      <vt:lpstr>Loops in ArrayList</vt:lpstr>
      <vt:lpstr>Loops in ArrayList (Cont…) </vt:lpstr>
      <vt:lpstr>Loops in ArrayList (Cont…) </vt:lpstr>
      <vt:lpstr>Loops in ArrayList (Cont…) </vt:lpstr>
      <vt:lpstr>Loops in ArrayList</vt:lpstr>
      <vt:lpstr>Loops in ArrayList (Cont…) </vt:lpstr>
      <vt:lpstr>Some Examples </vt:lpstr>
      <vt:lpstr>Some Examples (Cont…) </vt:lpstr>
      <vt:lpstr>Some Examples (Cont…) </vt:lpstr>
      <vt:lpstr>Some Examples (Cont…) </vt:lpstr>
      <vt:lpstr>Some Examples (Cont…) </vt:lpstr>
      <vt:lpstr>Some Examples (Cont…)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2020-02-05T04:01:38Z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