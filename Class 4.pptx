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0" r:id="rId2"/>
  </p:sldMasterIdLst>
  <p:notesMasterIdLst>
    <p:notesMasterId r:id="rId30"/>
  </p:notesMasterIdLst>
  <p:handoutMasterIdLst>
    <p:handoutMasterId r:id="rId31"/>
  </p:handoutMasterIdLst>
  <p:sldIdLst>
    <p:sldId id="283" r:id="rId3"/>
    <p:sldId id="375" r:id="rId4"/>
    <p:sldId id="376" r:id="rId5"/>
    <p:sldId id="751" r:id="rId6"/>
    <p:sldId id="752" r:id="rId7"/>
    <p:sldId id="753" r:id="rId8"/>
    <p:sldId id="776" r:id="rId9"/>
    <p:sldId id="777" r:id="rId10"/>
    <p:sldId id="778" r:id="rId11"/>
    <p:sldId id="779" r:id="rId12"/>
    <p:sldId id="780" r:id="rId13"/>
    <p:sldId id="781" r:id="rId14"/>
    <p:sldId id="782" r:id="rId15"/>
    <p:sldId id="783" r:id="rId16"/>
    <p:sldId id="784" r:id="rId17"/>
    <p:sldId id="785" r:id="rId18"/>
    <p:sldId id="763" r:id="rId19"/>
    <p:sldId id="787" r:id="rId20"/>
    <p:sldId id="786" r:id="rId21"/>
    <p:sldId id="788" r:id="rId22"/>
    <p:sldId id="789" r:id="rId23"/>
    <p:sldId id="790" r:id="rId24"/>
    <p:sldId id="791" r:id="rId25"/>
    <p:sldId id="792" r:id="rId26"/>
    <p:sldId id="793" r:id="rId27"/>
    <p:sldId id="794" r:id="rId28"/>
    <p:sldId id="261" r:id="rId29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 autoAdjust="0"/>
    <p:restoredTop sz="95341" autoAdjust="0"/>
  </p:normalViewPr>
  <p:slideViewPr>
    <p:cSldViewPr>
      <p:cViewPr varScale="1">
        <p:scale>
          <a:sx n="91" d="100"/>
          <a:sy n="91" d="100"/>
        </p:scale>
        <p:origin x="642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31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54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7CCEC-F375-47DE-A104-C51D471F5D4A}" type="datetimeFigureOut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A8795-897B-48CF-9E16-76DD5A1A9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1969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1260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8ADFD5B-A66C-449C-B6E8-FB716D07777D}" type="datetimeFigureOut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9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49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596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714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661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320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512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006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968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069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805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920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600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8850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043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3184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2341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6005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8539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7127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5773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2893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670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5534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0045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B4435BD-B0AE-4783-8DAA-2C1BEA779722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7D9E0201-1172-46A8-B449-C16CA273C4C0}" type="datetime1">
              <a:rPr lang="en-US" smtClean="0">
                <a:solidFill>
                  <a:srgbClr val="FFFFFF"/>
                </a:solidFill>
              </a:rPr>
              <a:pPr algn="ctr"/>
              <a:t>1/17/2020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CF04-9D38-4138-96FE-8590975F0570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BA6-F9BC-4237-A171-55B2A5EA49AC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BB07DAD-E28C-4101-A1A4-96E7BC35467B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D69AE0B-12EF-42DE-B742-20E75D13F465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20636-CDAB-48CF-9828-BF9910A1BB53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649A-142D-4661-9B46-41CD3A9827AE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>
              <a:buNone/>
              <a:defRPr sz="42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F55C-8DA9-42A6-9B12-54705FFFEF92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3200"/>
            </a:lvl1pPr>
            <a:extLst/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DC3FF209-DE36-4729-95CB-0AA76895932A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35E0-6C97-4F43-A6D8-9B45077C310A}" type="datetime1">
              <a:rPr lang="en-US" smtClean="0"/>
              <a:pPr/>
              <a:t>1/17/2020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251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7CD7FE0-7A06-4323-A633-093765BF90D0}" type="datetime1">
              <a:rPr lang="en-US" smtClean="0">
                <a:solidFill>
                  <a:srgbClr val="FFFFFF"/>
                </a:solidFill>
              </a:rPr>
              <a:pPr algn="ctr"/>
              <a:t>1/17/2020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E25FD23A-F8F8-4D69-A395-0AF2E89CE2FE}" type="datetime1">
              <a:rPr lang="en-US" smtClean="0"/>
              <a:pPr/>
              <a:t>1/17/2020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8379391B-7504-45C9-9DE3-8766B2043D5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E1A9-E001-42AC-A12F-6AE7E6ACAE3C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0CAF-2C82-460F-90D1-C2C7BBC7E712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89E26-1FCC-4B3F-B660-C2B03C75462E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AF2D-C4FA-4AD1-B9C5-541A2E6970C2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0D40-64F2-4F15-9F14-A1518D69498A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EF6F-9573-4DF5-91E4-4DE0B495F90F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2512-B60A-4109-B5B7-BD8026229EC1}" type="datetime1">
              <a:rPr lang="en-US" smtClean="0"/>
              <a:pPr/>
              <a:t>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59F6-45D1-4175-A54A-8AB8C4EE273E}" type="datetime1">
              <a:rPr lang="en-US" smtClean="0"/>
              <a:pPr/>
              <a:t>1/17/2020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05979"/>
            <a:ext cx="18288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C681-2384-4687-86E8-D9B3D82CEF60}" type="datetime1">
              <a:rPr lang="en-US" smtClean="0"/>
              <a:pPr/>
              <a:t>1/17/2020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  <a:extLst/>
          </a:lstStyle>
          <a:p>
            <a:fld id="{DA7DA67F-3754-43B5-87B0-B6D0DE63B7D4}" type="datetime1">
              <a:rPr lang="en-US" smtClean="0"/>
              <a:pPr/>
              <a:t>1/17/2020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91CAD21-3FB9-4A34-A2B6-4B037A24C587}" type="datetime1">
              <a:rPr lang="en-US" smtClean="0"/>
              <a:pPr/>
              <a:t>1/17/2020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1962150"/>
            <a:ext cx="9601200" cy="8382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en-US" sz="3200" b="1" cap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Programming using Java (ECSE102L)</a:t>
            </a:r>
            <a:endParaRPr lang="en-US" sz="32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333500" y="4286250"/>
            <a:ext cx="6972300" cy="800100"/>
          </a:xfrm>
        </p:spPr>
        <p:txBody>
          <a:bodyPr>
            <a:noAutofit/>
          </a:bodyPr>
          <a:lstStyle/>
          <a:p>
            <a:pPr algn="ctr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7485888" cy="3657600"/>
          </a:xfrm>
        </p:spPr>
        <p:txBody>
          <a:bodyPr>
            <a:normAutofit/>
          </a:bodyPr>
          <a:lstStyle/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Conditional Statements</a:t>
            </a: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72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Conditional Statements 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conditional statement allows us to choose which statement will be executed. So, it is sometimes called as selection statement.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 gives us the power to make decision.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has the following conditional statements: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if-else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nested-if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if-else-if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switch-case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– break, continue, return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387477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if Statement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3929062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statement is the most simple decision making statement.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decide whether a certain statement or block of statements will be executed.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82296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if(condition) </a:t>
            </a:r>
          </a:p>
          <a:p>
            <a:pPr marL="82296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82296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Statement 1;</a:t>
            </a:r>
          </a:p>
          <a:p>
            <a:pPr marL="82296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Statement 2;</a:t>
            </a:r>
          </a:p>
          <a:p>
            <a:pPr marL="82296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55500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if Statement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71550"/>
            <a:ext cx="7943088" cy="3814762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is a Java reserved word.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condition must be a Boolean expression. It must evaluate to either true or false.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do not give the curly braces ‘{’ and ‘}’ after if(condition), then, by default if statement considers the immediate statement inside its block. Example: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if(condition)</a:t>
            </a:r>
          </a:p>
          <a:p>
            <a:pPr marL="82296" indent="0"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statement 1;                //Statement 1 will be executed</a:t>
            </a:r>
          </a:p>
          <a:p>
            <a:pPr marL="82296" indent="0"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statement 2;</a:t>
            </a: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14477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if Statement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8301EE-E57D-4C7F-99E1-16E5E5ECB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857250"/>
            <a:ext cx="2857899" cy="3448531"/>
          </a:xfrm>
        </p:spPr>
      </p:pic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929012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if Statement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C2082EE-7091-4F3A-A93B-DE1EFAC73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5875" y="1428750"/>
            <a:ext cx="5257800" cy="222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89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if Statement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DF25B-E902-4792-B5C2-AFDB1F225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85850"/>
            <a:ext cx="7943088" cy="36004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is greater than 18</a:t>
            </a:r>
          </a:p>
        </p:txBody>
      </p:sp>
    </p:spTree>
    <p:extLst>
      <p:ext uri="{BB962C8B-B14F-4D97-AF65-F5344CB8AC3E}">
        <p14:creationId xmlns:p14="http://schemas.microsoft.com/office/powerpoint/2010/main" val="3451124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if Statement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227A7C3-0D80-4F89-966E-8B0FCA138E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19400" y="1352550"/>
            <a:ext cx="443865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138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if Statement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DF25B-E902-4792-B5C2-AFDB1F225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85850"/>
            <a:ext cx="7943088" cy="36004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82296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is greater than y</a:t>
            </a:r>
            <a:endParaRPr lang="en-US" altLang="en-US" sz="2000" dirty="0">
              <a:solidFill>
                <a:srgbClr val="6699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690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 Statement</a:t>
            </a:r>
            <a:endParaRPr lang="en-US" sz="30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DF25B-E902-4792-B5C2-AFDB1F225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85850"/>
            <a:ext cx="7943088" cy="40005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 else statement to specify a block of code to be executed, if the condition is false.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if(condition) 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Statement 1;            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block of code to be executed, if the condition is true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else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82296" indent="0" algn="just">
              <a:buNone/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2;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// block of code to be executed, if the condition is false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US" altLang="en-US" sz="2000" dirty="0">
              <a:solidFill>
                <a:srgbClr val="6699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963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 Statement 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DF3E4B-DC0D-47F1-9492-B3D36AD6F0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00400" y="1383506"/>
            <a:ext cx="389572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489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 Statement 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16E39-63C5-47E4-B4F6-ECB80EE75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85850"/>
            <a:ext cx="7943088" cy="36004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evening.</a:t>
            </a:r>
          </a:p>
        </p:txBody>
      </p:sp>
    </p:spTree>
    <p:extLst>
      <p:ext uri="{BB962C8B-B14F-4D97-AF65-F5344CB8AC3E}">
        <p14:creationId xmlns:p14="http://schemas.microsoft.com/office/powerpoint/2010/main" val="3249627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else-if Statement</a:t>
            </a:r>
            <a:endParaRPr lang="en-US" sz="30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16E39-63C5-47E4-B4F6-ECB80EE75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229100"/>
          </a:xfrm>
        </p:spPr>
        <p:txBody>
          <a:bodyPr>
            <a:normAutofit fontScale="3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else if statement to specify a new condition if the first condition is false</a:t>
            </a:r>
            <a:r>
              <a:rPr lang="en-US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82296" indent="0" algn="just"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if(condition1) </a:t>
            </a:r>
          </a:p>
          <a:p>
            <a:pPr marL="82296" indent="0" algn="just"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</a:p>
          <a:p>
            <a:pPr marL="82296" indent="0" algn="just"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Statement 1;            </a:t>
            </a:r>
            <a:r>
              <a:rPr lang="en-US" altLang="en-US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block of code to be executed, if the condition1 is true</a:t>
            </a:r>
            <a:r>
              <a:rPr lang="en-US" alt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2296" indent="0" algn="just"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pPr marL="82296" indent="0" algn="just"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else if (condition 2)</a:t>
            </a:r>
          </a:p>
          <a:p>
            <a:pPr marL="82296" indent="0" algn="just"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</a:p>
          <a:p>
            <a:pPr marL="82296" indent="0" algn="just">
              <a:buNone/>
            </a:pPr>
            <a:r>
              <a:rPr lang="en-US" alt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Statement 2;           </a:t>
            </a:r>
            <a:r>
              <a:rPr lang="en-US" altLang="en-US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block of code to be executed, if the condition1 is false and condition2 is true</a:t>
            </a:r>
            <a:endParaRPr lang="en-US" alt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pPr marL="82296" indent="0" algn="just"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else</a:t>
            </a:r>
          </a:p>
          <a:p>
            <a:pPr marL="82296" indent="0" algn="just">
              <a:buNone/>
            </a:pP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</a:p>
          <a:p>
            <a:pPr marL="82296" indent="0" algn="just">
              <a:buNone/>
            </a:pPr>
            <a:r>
              <a:rPr lang="en-US" altLang="en-US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3;           </a:t>
            </a:r>
            <a:r>
              <a:rPr lang="en-US" altLang="en-US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block of code to be executed, if the condition1 is false and condition2 is false</a:t>
            </a:r>
            <a:endParaRPr lang="en-US" alt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pPr marL="82296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27054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else-if Statement 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EB0E87-2E14-4D55-BBA1-3E519C4DB0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76600" y="1238250"/>
            <a:ext cx="36385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13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else-if Statement 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845EB-2F16-4CAF-8F9F-54C5BB0BE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85850"/>
            <a:ext cx="7943088" cy="36004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Good evening.</a:t>
            </a:r>
          </a:p>
        </p:txBody>
      </p:sp>
    </p:spTree>
    <p:extLst>
      <p:ext uri="{BB962C8B-B14F-4D97-AF65-F5344CB8AC3E}">
        <p14:creationId xmlns:p14="http://schemas.microsoft.com/office/powerpoint/2010/main" val="2494305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 Statement</a:t>
            </a:r>
            <a:endParaRPr lang="en-US" sz="30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switch statement is a multi-way branch statement.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an easy way to dispatch execution to different parts of code based on the value of the expression.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switch expression is evaluated once.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the expression is compared with the values of each case.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is a match, the associated block of code is executed.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break and default keywords are optional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177681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 Statement 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switch(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{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case x: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1;         //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block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break;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case y: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2;         //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block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break;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default: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3;       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code block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 </a:t>
            </a:r>
          </a:p>
          <a:p>
            <a:pPr marL="402336" lvl="1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516281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 Statement 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2" descr="Image result for switch case java">
            <a:extLst>
              <a:ext uri="{FF2B5EF4-FFF2-40B4-BE49-F238E27FC236}">
                <a16:creationId xmlns:a16="http://schemas.microsoft.com/office/drawing/2014/main" id="{591D54C9-6964-47BF-B443-D744A093BC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286" y="1200150"/>
            <a:ext cx="3760477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3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 Statement 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FE7F0-CEDD-4ACE-BF81-83A9F3208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71550"/>
            <a:ext cx="7943088" cy="3714750"/>
          </a:xfrm>
        </p:spPr>
        <p:txBody>
          <a:bodyPr>
            <a:norm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Keyword </a:t>
            </a:r>
          </a:p>
          <a:p>
            <a:pPr marL="61722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Java reaches a break keyword, it breaks out of the switch block.</a:t>
            </a:r>
          </a:p>
          <a:p>
            <a:pPr marL="61722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v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22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stop the execution of more code and case testing inside the block.</a:t>
            </a:r>
          </a:p>
          <a:p>
            <a:pPr marL="61722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v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22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match is found, and the job is done, it's time for a break. </a:t>
            </a:r>
          </a:p>
          <a:p>
            <a:pPr marL="61722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v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22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need for more testing.</a:t>
            </a:r>
          </a:p>
          <a:p>
            <a:pPr marL="82296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48113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 Statement 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FE7F0-CEDD-4ACE-BF81-83A9F3208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71550"/>
            <a:ext cx="7943088" cy="3714750"/>
          </a:xfrm>
        </p:spPr>
        <p:txBody>
          <a:bodyPr>
            <a:norm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q"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Keyword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q"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22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 default keyword specifies some code to run, if there is no case match. 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450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 Statement 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40F30-99DB-4E4B-98BD-DA9685760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important rule:</a:t>
            </a:r>
          </a:p>
          <a:p>
            <a:pPr lvl="1" algn="just" fontAlgn="base">
              <a:buFont typeface="Wingdings" panose="05000000000000000000" pitchFamily="2" charset="2"/>
              <a:buChar char="v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case values are not allowed.</a:t>
            </a:r>
          </a:p>
          <a:p>
            <a:pPr lvl="1" algn="just" fontAlgn="base">
              <a:buFont typeface="Wingdings" panose="05000000000000000000" pitchFamily="2" charset="2"/>
              <a:buChar char="v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for a case must be of the same data type as the variable in the switch.</a:t>
            </a:r>
          </a:p>
          <a:p>
            <a:pPr lvl="1" algn="just" fontAlgn="base">
              <a:buFont typeface="Wingdings" panose="05000000000000000000" pitchFamily="2" charset="2"/>
              <a:buChar char="v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for a case must be a constant or a literal. Variables are not allowed.</a:t>
            </a:r>
          </a:p>
          <a:p>
            <a:pPr lvl="1" algn="just" fontAlgn="base">
              <a:buFont typeface="Wingdings" panose="05000000000000000000" pitchFamily="2" charset="2"/>
              <a:buChar char="v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break statement is used inside the switch to terminate a statement sequence.</a:t>
            </a:r>
          </a:p>
          <a:p>
            <a:pPr lvl="1" algn="just" fontAlgn="base">
              <a:buFont typeface="Wingdings" panose="05000000000000000000" pitchFamily="2" charset="2"/>
              <a:buChar char="v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break statement is optional. If omitted, execution will continue on into the next case.</a:t>
            </a:r>
          </a:p>
          <a:p>
            <a:pPr lvl="1" algn="just" fontAlgn="base">
              <a:buFont typeface="Wingdings" panose="05000000000000000000" pitchFamily="2" charset="2"/>
              <a:buChar char="v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default statement is optional and can appear anywhere inside the switch block. In case, if it is not at the end, then, a break statement must be kept after the default statement to omit the execution of the next case statement.</a:t>
            </a:r>
          </a:p>
          <a:p>
            <a:pPr marL="82296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932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 Statement 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40F30-99DB-4E4B-98BD-DA9685760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0" y="666750"/>
            <a:ext cx="4343400" cy="4476750"/>
          </a:xfrm>
        </p:spPr>
        <p:txBody>
          <a:bodyPr>
            <a:normAutofit fontScale="25000" lnSpcReduction="20000"/>
          </a:bodyPr>
          <a:lstStyle/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static void main(String[]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int day = 4; 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switch (day)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 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case 1: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("Monday"); 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break;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case 2: 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("Wednesday"); 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break;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case 3: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("Thursday"); 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break;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case 4: 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("Friday"); 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break; 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case 5: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("Saturday");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break;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case 6: 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("Sunday");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break; 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pPr marL="0" indent="0"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} </a:t>
            </a:r>
          </a:p>
          <a:p>
            <a:pPr marL="82296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089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 Statement 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40F30-99DB-4E4B-98BD-DA9685760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47750"/>
            <a:ext cx="7924800" cy="40957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Friday</a:t>
            </a:r>
          </a:p>
        </p:txBody>
      </p:sp>
    </p:spTree>
    <p:extLst>
      <p:ext uri="{BB962C8B-B14F-4D97-AF65-F5344CB8AC3E}">
        <p14:creationId xmlns:p14="http://schemas.microsoft.com/office/powerpoint/2010/main" val="3971832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 Statement 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1DE1E321-343A-4F51-B2E3-BDB71D449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38400" y="1243669"/>
            <a:ext cx="5400675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59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 Statement 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40F30-99DB-4E4B-98BD-DA9685760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47750"/>
            <a:ext cx="7924800" cy="40957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Looking forward to the Weekend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0718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DC88-5686-4D8C-A45E-430AC6155FF9}" type="datetime1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1/17/2020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>
                <a:latin typeface="Times New Roman" pitchFamily="18" charset="0"/>
                <a:cs typeface="Times New Roman" pitchFamily="18" charset="0"/>
              </a:rPr>
              <a:t>Comprehensive Examination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lnSpcReduction="10000"/>
          </a:bodyPr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 algn="ctr"/>
              <a:t>27</a:t>
            </a:fld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014" y="2985191"/>
            <a:ext cx="5126986" cy="2158309"/>
          </a:xfrm>
          <a:prstGeom prst="rect">
            <a:avLst/>
          </a:prstGeom>
        </p:spPr>
      </p:pic>
      <p:pic>
        <p:nvPicPr>
          <p:cNvPr id="10" name="Picture 9" descr="263762-frederik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62400" y="0"/>
            <a:ext cx="5181600" cy="3028950"/>
          </a:xfrm>
          <a:prstGeom prst="rect">
            <a:avLst/>
          </a:prstGeom>
        </p:spPr>
      </p:pic>
      <p:pic>
        <p:nvPicPr>
          <p:cNvPr id="13" name="Picture 12" descr="10426693503_00e4413427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038599" cy="51435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Widescreen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963</Words>
  <Application>Microsoft Office PowerPoint</Application>
  <PresentationFormat>On-screen Show (16:9)</PresentationFormat>
  <Paragraphs>287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 Black</vt:lpstr>
      <vt:lpstr>Calibri</vt:lpstr>
      <vt:lpstr>Gill Sans MT</vt:lpstr>
      <vt:lpstr>Times New Roman</vt:lpstr>
      <vt:lpstr>Tw Cen MT</vt:lpstr>
      <vt:lpstr>Verdana</vt:lpstr>
      <vt:lpstr>Wingdings</vt:lpstr>
      <vt:lpstr>Wingdings 2</vt:lpstr>
      <vt:lpstr>WidescreenPresentation</vt:lpstr>
      <vt:lpstr>Solstice</vt:lpstr>
      <vt:lpstr>Object Oriented Programming using Java (ECSE102L)</vt:lpstr>
      <vt:lpstr>Outline</vt:lpstr>
      <vt:lpstr>     Conditional Statements </vt:lpstr>
      <vt:lpstr>     if Statement</vt:lpstr>
      <vt:lpstr>     if Statement (Cont…)</vt:lpstr>
      <vt:lpstr>     if Statement (Cont…)</vt:lpstr>
      <vt:lpstr>     if Statement (Cont…)</vt:lpstr>
      <vt:lpstr>     if Statement (Cont…)</vt:lpstr>
      <vt:lpstr>     if Statement (Cont…)</vt:lpstr>
      <vt:lpstr>     if Statement (Cont…)</vt:lpstr>
      <vt:lpstr>     else Statement</vt:lpstr>
      <vt:lpstr>     else Statement (Cont…)</vt:lpstr>
      <vt:lpstr>     else Statement (Cont…)</vt:lpstr>
      <vt:lpstr>     else-if Statement</vt:lpstr>
      <vt:lpstr>     else-if Statement (Cont…)</vt:lpstr>
      <vt:lpstr>     else-if Statement (Cont…)</vt:lpstr>
      <vt:lpstr>Switch Statement</vt:lpstr>
      <vt:lpstr>Switch Statement (Cont…)</vt:lpstr>
      <vt:lpstr>Switch Statement (Cont…)</vt:lpstr>
      <vt:lpstr>Switch Statement (Cont…)</vt:lpstr>
      <vt:lpstr>Switch Statement (Cont…)</vt:lpstr>
      <vt:lpstr>Switch Statement (Cont…)</vt:lpstr>
      <vt:lpstr>Switch Statement (Cont…)</vt:lpstr>
      <vt:lpstr>Switch Statement (Cont…)</vt:lpstr>
      <vt:lpstr>Switch Statement (Cont…)</vt:lpstr>
      <vt:lpstr>Switch Statement (Cont…)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2012-12-10T10:37:09Z</dcterms:created>
  <dcterms:modified xsi:type="dcterms:W3CDTF">2020-01-17T05:42:57Z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