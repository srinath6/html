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28"/>
  </p:notesMasterIdLst>
  <p:handoutMasterIdLst>
    <p:handoutMasterId r:id="rId29"/>
  </p:handoutMasterIdLst>
  <p:sldIdLst>
    <p:sldId id="283" r:id="rId3"/>
    <p:sldId id="375" r:id="rId4"/>
    <p:sldId id="794" r:id="rId5"/>
    <p:sldId id="834" r:id="rId6"/>
    <p:sldId id="795" r:id="rId7"/>
    <p:sldId id="796" r:id="rId8"/>
    <p:sldId id="816" r:id="rId9"/>
    <p:sldId id="835" r:id="rId10"/>
    <p:sldId id="836" r:id="rId11"/>
    <p:sldId id="845" r:id="rId12"/>
    <p:sldId id="837" r:id="rId13"/>
    <p:sldId id="838" r:id="rId14"/>
    <p:sldId id="846" r:id="rId15"/>
    <p:sldId id="847" r:id="rId16"/>
    <p:sldId id="840" r:id="rId17"/>
    <p:sldId id="841" r:id="rId18"/>
    <p:sldId id="848" r:id="rId19"/>
    <p:sldId id="849" r:id="rId20"/>
    <p:sldId id="862" r:id="rId21"/>
    <p:sldId id="863" r:id="rId22"/>
    <p:sldId id="850" r:id="rId23"/>
    <p:sldId id="851" r:id="rId24"/>
    <p:sldId id="852" r:id="rId25"/>
    <p:sldId id="853" r:id="rId26"/>
    <p:sldId id="261" r:id="rId27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353" autoAdjust="0"/>
  </p:normalViewPr>
  <p:slideViewPr>
    <p:cSldViewPr>
      <p:cViewPr varScale="1">
        <p:scale>
          <a:sx n="87" d="100"/>
          <a:sy n="87" d="100"/>
        </p:scale>
        <p:origin x="102" y="1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5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73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53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292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449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790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383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128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60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745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691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450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809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506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12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539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8576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667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180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9628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0968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236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2/3/2020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2/3/2020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2/3/2020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2/3/2020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2/3/2020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2/3/2020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Structure 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Types of Data Structure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Linear Data Structure 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Non-Linear Data Structure</a:t>
            </a:r>
          </a:p>
          <a:p>
            <a:pPr marL="539496" indent="-457200" algn="just">
              <a:buFont typeface="+mj-lt"/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Stack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computer science, a data structure is a data organization that enables efficient access and modification.</a:t>
            </a:r>
          </a:p>
          <a:p>
            <a:pPr marL="82296" indent="0" algn="just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collection of data values, the relationships among them, and the functions or operations that can be applied to the data.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372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Types of Data Structure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77B92B-BB0F-4DB2-9449-65D40FA8DCBE}"/>
              </a:ext>
            </a:extLst>
          </p:cNvPr>
          <p:cNvSpPr/>
          <p:nvPr/>
        </p:nvSpPr>
        <p:spPr>
          <a:xfrm>
            <a:off x="4332889" y="856921"/>
            <a:ext cx="1371600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455D9F-2E9E-4215-9610-710C1A47EDD0}"/>
              </a:ext>
            </a:extLst>
          </p:cNvPr>
          <p:cNvSpPr/>
          <p:nvPr/>
        </p:nvSpPr>
        <p:spPr>
          <a:xfrm>
            <a:off x="6390289" y="1941129"/>
            <a:ext cx="1371600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3F9A26-1E90-4444-A6D4-AFCCB98F694D}"/>
              </a:ext>
            </a:extLst>
          </p:cNvPr>
          <p:cNvSpPr/>
          <p:nvPr/>
        </p:nvSpPr>
        <p:spPr>
          <a:xfrm>
            <a:off x="2405555" y="1958947"/>
            <a:ext cx="1371600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7CA19A-4240-49BC-8048-CAAC3F52C638}"/>
              </a:ext>
            </a:extLst>
          </p:cNvPr>
          <p:cNvSpPr/>
          <p:nvPr/>
        </p:nvSpPr>
        <p:spPr>
          <a:xfrm>
            <a:off x="1499695" y="3317327"/>
            <a:ext cx="762000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CB8684-9345-4CCE-8AF1-2B0E9EA4B009}"/>
              </a:ext>
            </a:extLst>
          </p:cNvPr>
          <p:cNvSpPr/>
          <p:nvPr/>
        </p:nvSpPr>
        <p:spPr>
          <a:xfrm>
            <a:off x="5898601" y="3317327"/>
            <a:ext cx="783021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F8995C-697F-450A-A66E-88F922EB9039}"/>
              </a:ext>
            </a:extLst>
          </p:cNvPr>
          <p:cNvSpPr/>
          <p:nvPr/>
        </p:nvSpPr>
        <p:spPr>
          <a:xfrm>
            <a:off x="4332889" y="3345574"/>
            <a:ext cx="783021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6CD105-72A0-4B06-831E-5F50BE49582D}"/>
              </a:ext>
            </a:extLst>
          </p:cNvPr>
          <p:cNvSpPr/>
          <p:nvPr/>
        </p:nvSpPr>
        <p:spPr>
          <a:xfrm>
            <a:off x="2454822" y="3317327"/>
            <a:ext cx="838200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DC7394-750E-4F5F-BDE1-7809A0C5189C}"/>
              </a:ext>
            </a:extLst>
          </p:cNvPr>
          <p:cNvSpPr/>
          <p:nvPr/>
        </p:nvSpPr>
        <p:spPr>
          <a:xfrm>
            <a:off x="3456918" y="3317327"/>
            <a:ext cx="762000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BC7C61-4780-41A5-ADEB-E8D3890ADC59}"/>
              </a:ext>
            </a:extLst>
          </p:cNvPr>
          <p:cNvCxnSpPr>
            <a:cxnSpLocks/>
          </p:cNvCxnSpPr>
          <p:nvPr/>
        </p:nvCxnSpPr>
        <p:spPr>
          <a:xfrm flipH="1">
            <a:off x="3777155" y="1498297"/>
            <a:ext cx="568873" cy="442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858873-6F01-4DCA-BB53-70134BA639F5}"/>
              </a:ext>
            </a:extLst>
          </p:cNvPr>
          <p:cNvCxnSpPr/>
          <p:nvPr/>
        </p:nvCxnSpPr>
        <p:spPr>
          <a:xfrm>
            <a:off x="5704489" y="1523178"/>
            <a:ext cx="685800" cy="409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DCC52-A8DC-431F-AE58-CB6D457FB1CC}"/>
              </a:ext>
            </a:extLst>
          </p:cNvPr>
          <p:cNvSpPr/>
          <p:nvPr/>
        </p:nvSpPr>
        <p:spPr>
          <a:xfrm>
            <a:off x="7620000" y="3333750"/>
            <a:ext cx="783021" cy="673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357D56F-C455-4F77-AF96-056CF98CFF31}"/>
              </a:ext>
            </a:extLst>
          </p:cNvPr>
          <p:cNvCxnSpPr>
            <a:endCxn id="12" idx="0"/>
          </p:cNvCxnSpPr>
          <p:nvPr/>
        </p:nvCxnSpPr>
        <p:spPr>
          <a:xfrm flipH="1">
            <a:off x="1880695" y="2632923"/>
            <a:ext cx="524860" cy="684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238099-EE21-44FE-9247-1C7398C0A30D}"/>
              </a:ext>
            </a:extLst>
          </p:cNvPr>
          <p:cNvCxnSpPr>
            <a:endCxn id="15" idx="0"/>
          </p:cNvCxnSpPr>
          <p:nvPr/>
        </p:nvCxnSpPr>
        <p:spPr>
          <a:xfrm flipH="1">
            <a:off x="2873922" y="2632923"/>
            <a:ext cx="97878" cy="684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AAC32E-A86B-4D08-9E83-C8BB8739DF2D}"/>
              </a:ext>
            </a:extLst>
          </p:cNvPr>
          <p:cNvCxnSpPr>
            <a:endCxn id="16" idx="0"/>
          </p:cNvCxnSpPr>
          <p:nvPr/>
        </p:nvCxnSpPr>
        <p:spPr>
          <a:xfrm>
            <a:off x="3342289" y="2650741"/>
            <a:ext cx="495629" cy="666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3D57EC-20EC-4C7E-8FE0-3EBEA2941D93}"/>
              </a:ext>
            </a:extLst>
          </p:cNvPr>
          <p:cNvCxnSpPr>
            <a:endCxn id="14" idx="0"/>
          </p:cNvCxnSpPr>
          <p:nvPr/>
        </p:nvCxnSpPr>
        <p:spPr>
          <a:xfrm>
            <a:off x="3754491" y="2632923"/>
            <a:ext cx="969909" cy="712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2A09844-B8B1-45BE-8AE8-1E5C944B8E89}"/>
              </a:ext>
            </a:extLst>
          </p:cNvPr>
          <p:cNvCxnSpPr>
            <a:endCxn id="13" idx="0"/>
          </p:cNvCxnSpPr>
          <p:nvPr/>
        </p:nvCxnSpPr>
        <p:spPr>
          <a:xfrm flipH="1">
            <a:off x="6290112" y="2627709"/>
            <a:ext cx="100177" cy="689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DD40A7-DF8B-4BB6-BDC5-3394DFD05D76}"/>
              </a:ext>
            </a:extLst>
          </p:cNvPr>
          <p:cNvCxnSpPr>
            <a:endCxn id="20" idx="0"/>
          </p:cNvCxnSpPr>
          <p:nvPr/>
        </p:nvCxnSpPr>
        <p:spPr>
          <a:xfrm>
            <a:off x="7761889" y="2629618"/>
            <a:ext cx="249622" cy="704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49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Linear Data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Data elements are arranged sequentially or linearly.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Here, elements are linked to its previous and next adjacent elements i.e. linear data structure.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In linear data structure, single level is involved. So, we can traverse all the elements in single run only.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Linear data structures are easy to implement.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Here, computer memory is arranged in a linear way.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435097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Non-Linear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8001000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elements are not arranged sequentially or linearly.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non-linear data structure, single level is not involved. So, we can’t traverse all the elements in single run only.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implement in comparison to linear data structure.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924916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a data structure of ordered items such that items can be inserted and removed only at one end known as Top.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element to be added is the first to be removed (LIFO: Last In First Out).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access to the top element.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13657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picture containing food&#10;&#10;Description automatically generated">
            <a:extLst>
              <a:ext uri="{FF2B5EF4-FFF2-40B4-BE49-F238E27FC236}">
                <a16:creationId xmlns:a16="http://schemas.microsoft.com/office/drawing/2014/main" id="{280854B2-CFD8-436C-AAB5-C0868F521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43517"/>
            <a:ext cx="5791200" cy="345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2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Basic Operations: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</a:p>
          <a:p>
            <a:pPr marL="992124" lvl="2" indent="-342900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operation to place a new item at the top of the stack.</a:t>
            </a:r>
          </a:p>
          <a:p>
            <a:pPr marL="992124" lvl="2" indent="-342900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must not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92124" lvl="2" indent="-342900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operation to remove the item from the top of the stack.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must not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UNDERFLOW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808174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Basic Operations (</a:t>
            </a:r>
            <a:r>
              <a:rPr lang="en-US" sz="2400" b="1" dirty="0" err="1">
                <a:latin typeface="Times New Roman" panose="02020603050405020304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…):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picture containing screenshot, drawing&#10;&#10;Description automatically generated">
            <a:extLst>
              <a:ext uri="{FF2B5EF4-FFF2-40B4-BE49-F238E27FC236}">
                <a16:creationId xmlns:a16="http://schemas.microsoft.com/office/drawing/2014/main" id="{4541DE9E-07E9-4131-A640-1C1E55B37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1" y="1714500"/>
            <a:ext cx="6781800" cy="238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14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Implementation of Stack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Static: The size of the stack must assign at the beginning.</a:t>
            </a:r>
          </a:p>
          <a:p>
            <a:pPr lvl="2" algn="just"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Dynamic: Never becomes full.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558894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Implementation of Stack using Array: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Push(a, top, item, max)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top=max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print ‘STACK OVERFLOW’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exit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top=top+1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a[top]=item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286229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Implementation of Stack using Array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Pop(a, top, item)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top=0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print ‘STACK UNDERFLOW’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exit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item=a[top]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top=top-1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59157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Implementation of Stack using Array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Display(top,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a)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top=0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Print ‘STACK EMPTY’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Exit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For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=top to 0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Print a[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07397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Entire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Structure of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Implementation: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EAAAC9E-A637-452E-AF0A-113345297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591" y="1379110"/>
            <a:ext cx="5144218" cy="376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946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Application:</a:t>
            </a:r>
          </a:p>
          <a:p>
            <a:pPr marL="859536" lvl="1" indent="-457200" algn="just">
              <a:buFont typeface="+mj-lt"/>
              <a:buAutoNum type="arabicPeriod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Reversing a String.</a:t>
            </a:r>
          </a:p>
          <a:p>
            <a:pPr lvl="3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each letter of the String and push it onto the stack.</a:t>
            </a:r>
          </a:p>
          <a:p>
            <a:pPr lvl="3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will reach the last letter of the String, pop the letters off the stack and print them out.</a:t>
            </a: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59536" lvl="1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itchFamily="18" charset="0"/>
              </a:rPr>
              <a:t>Checking validity of an expression</a:t>
            </a:r>
          </a:p>
          <a:p>
            <a:pPr lvl="3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program for checking the validity of an expression verifies that for each left parenthesis braces or bracket, there is a corresponding closing symbol and symbols are appropriately nested.</a:t>
            </a:r>
          </a:p>
          <a:p>
            <a:pPr marL="859536" lvl="1" indent="-457200" algn="just">
              <a:buFont typeface="+mj-lt"/>
              <a:buAutoNum type="arabicPeriod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938269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2296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5D22232-3997-4537-AFCD-A4CC77524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93" y="1691067"/>
            <a:ext cx="3581400" cy="2495898"/>
          </a:xfrm>
          <a:prstGeom prst="rect">
            <a:avLst/>
          </a:prstGeom>
        </p:spPr>
      </p:pic>
      <p:pic>
        <p:nvPicPr>
          <p:cNvPr id="9" name="Picture 8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ADD3606-C8E4-4A14-976D-283FAEFE4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334978"/>
            <a:ext cx="4267200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13816" lvl="1" indent="-457200" algn="just">
              <a:buFont typeface="+mj-lt"/>
              <a:buAutoNum type="arabicPeriod" startAt="3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Evaluating arithmetic expressions: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Infix notation: The normal way of writing arithmetic expressions is known as infix notation.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(a-b)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Prefix notation: Operator is before the operands.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-AB</a:t>
            </a:r>
          </a:p>
          <a:p>
            <a:pPr lvl="2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Postfix notation: Operator is after the operands.</a:t>
            </a:r>
          </a:p>
          <a:p>
            <a:pPr marL="82296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 AB-</a:t>
            </a:r>
          </a:p>
          <a:p>
            <a:pPr marL="82296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945738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13816" lvl="1" indent="-457200" algn="just">
              <a:buFont typeface="+mj-lt"/>
              <a:buAutoNum type="arabicPeriod" startAt="3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Evaluating arithmetic expressions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356616" lvl="1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5661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 Postfix and Prefix of the following expression: </a:t>
            </a:r>
          </a:p>
          <a:p>
            <a:pPr marL="356616" lvl="1" indent="0"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 * C + D</a:t>
            </a:r>
          </a:p>
          <a:p>
            <a:pPr marL="356616" lvl="1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56616" lvl="1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5661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 Postfix and Prefix of the following expression: </a:t>
            </a:r>
          </a:p>
          <a:p>
            <a:pPr marL="658368" lvl="2" indent="0" algn="ctr">
              <a:buClr>
                <a:srgbClr val="0070C0"/>
              </a:buCl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(A+B)*C-(D-E)*(F+G)</a:t>
            </a:r>
          </a:p>
          <a:p>
            <a:pPr marL="868680" lvl="3" indent="0" algn="just">
              <a:buClr>
                <a:srgbClr val="0070C0"/>
              </a:buCl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itchFamily="18" charset="0"/>
              </a:rPr>
              <a:t>       </a:t>
            </a:r>
          </a:p>
          <a:p>
            <a:pPr marL="868680" lvl="3" indent="0" algn="just">
              <a:buClr>
                <a:srgbClr val="0070C0"/>
              </a:buClr>
              <a:buNone/>
            </a:pP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737932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13816" lvl="1" indent="-457200" algn="just">
              <a:buFont typeface="+mj-lt"/>
              <a:buAutoNum type="arabicPeriod" startAt="3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Evaluating arithmetic expressions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356616" lvl="1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5661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 Postfix and Prefix of the following expression: </a:t>
            </a:r>
          </a:p>
          <a:p>
            <a:pPr marL="356616" lvl="1" indent="0"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 * C + D</a:t>
            </a:r>
          </a:p>
          <a:p>
            <a:pPr marL="356616" lvl="1" indent="0"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Postfix: ABC*+D+                          Prefix: ++A*BCD</a:t>
            </a:r>
          </a:p>
          <a:p>
            <a:pPr marL="356616" lvl="1" indent="0" algn="ctr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61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 Postfix and Prefix of the following expression: </a:t>
            </a:r>
          </a:p>
          <a:p>
            <a:pPr marL="658368" lvl="2" indent="0" algn="ctr">
              <a:buClr>
                <a:srgbClr val="0070C0"/>
              </a:buCl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(A+B)*C-(D-E)*(F+G)</a:t>
            </a:r>
          </a:p>
          <a:p>
            <a:pPr marL="658368" lvl="2" indent="0" algn="ctr">
              <a:buClr>
                <a:srgbClr val="0070C0"/>
              </a:buCl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Postfix: AB+C*DE-FG+*-       Prefix: -*+ABC*-DE+FG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52507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13816" lvl="1" indent="-457200" algn="just">
              <a:buFont typeface="+mj-lt"/>
              <a:buAutoNum type="arabicPeriod" startAt="3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Evaluating arithmetic expressions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35661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Expression: 456*+</a:t>
            </a: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13816" lvl="1" indent="-457200" algn="just">
              <a:buFont typeface="+mj-lt"/>
              <a:buAutoNum type="arabicPeriod" startAt="3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picture containing different, bunch, group, table&#10;&#10;Description automatically generated">
            <a:extLst>
              <a:ext uri="{FF2B5EF4-FFF2-40B4-BE49-F238E27FC236}">
                <a16:creationId xmlns:a16="http://schemas.microsoft.com/office/drawing/2014/main" id="{F687F2E3-0215-47E9-9D71-4F67D351E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263829"/>
            <a:ext cx="4191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4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13816" lvl="1" indent="-457200" algn="just">
              <a:buFont typeface="+mj-lt"/>
              <a:buAutoNum type="arabicPeriod" startAt="3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Evaluating arithmetic expressions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356616" lvl="1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Expression: 456*+</a:t>
            </a:r>
          </a:p>
          <a:p>
            <a:pPr marL="356616" lvl="1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13816" lvl="1" indent="-457200" algn="just">
              <a:buFont typeface="+mj-lt"/>
              <a:buAutoNum type="arabicPeriod" startAt="3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6B4676AB-AF08-466D-A5CE-6CD948441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760" y="2038350"/>
            <a:ext cx="6201640" cy="311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32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13816" lvl="1" indent="-457200" algn="just">
              <a:buFont typeface="+mj-lt"/>
              <a:buAutoNum type="arabicPeriod" startAt="3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Evaluating arithmetic expressions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356616" lvl="1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356616" lvl="1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Practice for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expression: +-927</a:t>
            </a:r>
          </a:p>
          <a:p>
            <a:pPr marL="356616" lvl="1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13816" lvl="1" indent="-457200" algn="just">
              <a:buFont typeface="+mj-lt"/>
              <a:buAutoNum type="arabicPeriod" startAt="3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10217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Stack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813816" lvl="1" indent="-457200" algn="just">
              <a:buFont typeface="+mj-lt"/>
              <a:buAutoNum type="arabicPeriod" startAt="3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Evaluating arithmetic expressions 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…):</a:t>
            </a:r>
          </a:p>
          <a:p>
            <a:pPr marL="356616" lvl="1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Practice for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expression: +-927</a:t>
            </a:r>
          </a:p>
          <a:p>
            <a:pPr marL="356616" lvl="1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616" lvl="1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13816" lvl="1" indent="-457200" algn="just">
              <a:buFont typeface="+mj-lt"/>
              <a:buAutoNum type="arabicPeriod" startAt="3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0C094EF4-685F-4019-BAB4-0D674BED4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028390"/>
            <a:ext cx="5563376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46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2/3/2020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25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1038</Words>
  <Application>Microsoft Office PowerPoint</Application>
  <PresentationFormat>On-screen Show (16:9)</PresentationFormat>
  <Paragraphs>283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Data Structure</vt:lpstr>
      <vt:lpstr>Types of Data Structure</vt:lpstr>
      <vt:lpstr>Linear Data Structure </vt:lpstr>
      <vt:lpstr>Non-Linear Data Structure</vt:lpstr>
      <vt:lpstr>Stack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Stack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2020-02-03T09:37:27Z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