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  <p:sldMasterId id="2147483660" r:id="rId2"/>
  </p:sldMasterIdLst>
  <p:notesMasterIdLst>
    <p:notesMasterId r:id="rId27"/>
  </p:notesMasterIdLst>
  <p:handoutMasterIdLst>
    <p:handoutMasterId r:id="rId28"/>
  </p:handoutMasterIdLst>
  <p:sldIdLst>
    <p:sldId id="283" r:id="rId3"/>
    <p:sldId id="375" r:id="rId4"/>
    <p:sldId id="794" r:id="rId5"/>
    <p:sldId id="795" r:id="rId6"/>
    <p:sldId id="796" r:id="rId7"/>
    <p:sldId id="816" r:id="rId8"/>
    <p:sldId id="817" r:id="rId9"/>
    <p:sldId id="818" r:id="rId10"/>
    <p:sldId id="819" r:id="rId11"/>
    <p:sldId id="829" r:id="rId12"/>
    <p:sldId id="820" r:id="rId13"/>
    <p:sldId id="821" r:id="rId14"/>
    <p:sldId id="822" r:id="rId15"/>
    <p:sldId id="823" r:id="rId16"/>
    <p:sldId id="826" r:id="rId17"/>
    <p:sldId id="824" r:id="rId18"/>
    <p:sldId id="827" r:id="rId19"/>
    <p:sldId id="828" r:id="rId20"/>
    <p:sldId id="825" r:id="rId21"/>
    <p:sldId id="830" r:id="rId22"/>
    <p:sldId id="831" r:id="rId23"/>
    <p:sldId id="832" r:id="rId24"/>
    <p:sldId id="833" r:id="rId25"/>
    <p:sldId id="261" r:id="rId26"/>
  </p:sldIdLst>
  <p:sldSz cx="9144000" cy="5143500" type="screen16x9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353" autoAdjust="0"/>
  </p:normalViewPr>
  <p:slideViewPr>
    <p:cSldViewPr>
      <p:cViewPr varScale="1">
        <p:scale>
          <a:sx n="91" d="100"/>
          <a:sy n="91" d="100"/>
        </p:scale>
        <p:origin x="64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52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54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7CCEC-F375-47DE-A104-C51D471F5D4A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A8795-897B-48CF-9E16-76DD5A1A90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969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A8ADFD5B-A66C-449C-B6E8-FB716D07777D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CA5D3BF3-D352-46FC-8343-31F56E6730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1260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8ADFD5B-A66C-449C-B6E8-FB716D07777D}" type="datetimeFigureOut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49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15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53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292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449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351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245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320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3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7514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57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263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205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433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451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3065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69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446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69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636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575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CIA Group, NIT Silchar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C3F1FA67-A8D0-4FF4-9D27-B2B78F3F7DC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282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8B4435BD-B0AE-4783-8DAA-2C1BEA779722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CIA Group, NIT Silchar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/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7D9E0201-1172-46A8-B449-C16CA273C4C0}" type="datetime1">
              <a:rPr lang="en-US" smtClean="0">
                <a:solidFill>
                  <a:srgbClr val="FFFFFF"/>
                </a:solidFill>
              </a:rPr>
              <a:pPr algn="ctr"/>
              <a:t>1/29/2020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177404"/>
            <a:ext cx="5867400" cy="273844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171450"/>
            <a:ext cx="8382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/>
          <a:lstStyle>
            <a:lvl1pPr>
              <a:defRPr cap="all" baseline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6CF04-9D38-4138-96FE-8590975F0570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  <a:extLst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0BA6-F9BC-4237-A171-55B2A5EA49AC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BB07DAD-E28C-4101-A1A4-96E7BC35467B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D69AE0B-12EF-42DE-B742-20E75D13F465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4"/>
          </a:solidFill>
        </p:spPr>
        <p:txBody>
          <a:bodyPr rtlCol="0" anchor="ctr"/>
          <a:lstStyle>
            <a:lvl1pPr>
              <a:buFontTx/>
              <a:buNone/>
              <a:defRPr sz="2000" b="1">
                <a:solidFill>
                  <a:srgbClr val="FFFFFF"/>
                </a:solidFill>
              </a:defRPr>
            </a:lvl1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20636-CDAB-48CF-9828-BF9910A1BB53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8649A-142D-4661-9B46-41CD3A9827AE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>
              <a:buNone/>
              <a:defRPr sz="4200" b="0"/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F55C-8DA9-42A6-9B12-54705FFFEF92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tx2">
              <a:shade val="50000"/>
            </a:schemeClr>
          </a:solidFill>
          <a:ln>
            <a:noFill/>
          </a:ln>
        </p:spPr>
        <p:txBody>
          <a:bodyPr/>
          <a:lstStyle>
            <a:lvl1pPr>
              <a:buNone/>
              <a:defRPr sz="3200"/>
            </a:lvl1pPr>
            <a:extLst/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  <a:extLst/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DC3FF209-DE36-4729-95CB-0AA76895932A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>
              <a:defRPr sz="2800"/>
            </a:lvl1pPr>
            <a:extLst/>
          </a:lstStyle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r>
              <a:rPr lang="sv-SE"/>
              <a:t>Comprehensive Examination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269923"/>
            <a:ext cx="7406640" cy="1104138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387548"/>
            <a:ext cx="7406640" cy="131445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67CD7FE0-7A06-4323-A633-093765BF90D0}" type="datetime1">
              <a:rPr lang="en-US" smtClean="0">
                <a:solidFill>
                  <a:srgbClr val="FFFFFF"/>
                </a:solidFill>
              </a:rPr>
              <a:pPr algn="ctr"/>
              <a:t>1/29/2020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>
                <a:solidFill>
                  <a:schemeClr val="tx2"/>
                </a:solidFill>
              </a:rPr>
              <a:t>Comprehensive Examination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2E0A0-C266-4798-8C8F-B9F91E9DA37E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06035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008762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E25FD23A-F8F8-4D69-A395-0AF2E89CE2FE}" type="datetime1">
              <a:rPr lang="en-US" smtClean="0"/>
              <a:pPr/>
              <a:t>1/29/2020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 Black" pitchFamily="34" charset="0"/>
              </a:defRPr>
            </a:lvl1pPr>
            <a:extLst/>
          </a:lstStyle>
          <a:p>
            <a:fld id="{8379391B-7504-45C9-9DE3-8766B2043D5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41"/>
            <a:ext cx="68580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1950244"/>
            <a:ext cx="6400800" cy="17145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800100"/>
            <a:ext cx="6400800" cy="1132284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4E1A9-E001-42AC-A12F-6AE7E6ACAE3C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110992"/>
            <a:ext cx="210312" cy="157734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059403"/>
            <a:ext cx="64008" cy="48006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143000"/>
            <a:ext cx="3657600" cy="34975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C0CAF-2C82-460F-90D1-C2C7BBC7E712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70252"/>
            <a:ext cx="8229600" cy="85725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246209"/>
            <a:ext cx="4023360" cy="48006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727002"/>
            <a:ext cx="4023360" cy="30861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9E26-1FCC-4B3F-B660-C2B03C75462E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dirty="0"/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05740"/>
            <a:ext cx="7498080" cy="85725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AAF2D-C4FA-4AD1-B9C5-541A2E6970C2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51435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0D40-64F2-4F15-9F14-A1518D69498A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2583"/>
            <a:ext cx="3810000" cy="871538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055223"/>
            <a:ext cx="3810000" cy="523875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53400" cy="29944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EEF6F-9573-4DF5-91E4-4DE0B495F90F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800100"/>
            <a:ext cx="2743200" cy="14859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42512-B60A-4109-B5B7-BD8026229EC1}" type="datetime1">
              <a:rPr lang="en-US" smtClean="0"/>
              <a:pPr/>
              <a:t>1/29/2020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Comprehensive Examination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762000" y="800100"/>
            <a:ext cx="4572000" cy="3429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857253"/>
            <a:ext cx="4419600" cy="2635898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715756"/>
            <a:ext cx="685800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702589"/>
            <a:ext cx="649224" cy="153233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3600450"/>
            <a:ext cx="4419600" cy="5715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59F6-45D1-4175-A54A-8AB8C4EE273E}" type="datetime1">
              <a:rPr lang="en-US" smtClean="0"/>
              <a:pPr/>
              <a:t>1/29/2020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05979"/>
            <a:ext cx="18288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AC681-2384-4687-86E8-D9B3D82CEF60}" type="datetime1">
              <a:rPr lang="en-US" smtClean="0"/>
              <a:pPr/>
              <a:t>1/29/2020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  <a:extLst/>
          </a:lstStyle>
          <a:p>
            <a:fld id="{DA7DA67F-3754-43B5-87B0-B6D0DE63B7D4}" type="datetime1">
              <a:rPr lang="en-US" smtClean="0"/>
              <a:pPr/>
              <a:t>1/29/2020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611941"/>
            <a:ext cx="1638887" cy="1229165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7" y="15827"/>
            <a:ext cx="1702191" cy="127664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791308"/>
            <a:ext cx="1125717" cy="826968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41"/>
            <a:ext cx="8131127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05978"/>
            <a:ext cx="7498080" cy="85725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085850"/>
            <a:ext cx="749808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4729162"/>
            <a:ext cx="2133600" cy="357188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91CAD21-3FB9-4A34-A2B6-4B037A24C587}" type="datetime1">
              <a:rPr lang="en-US" smtClean="0"/>
              <a:pPr/>
              <a:t>1/29/2020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4729162"/>
            <a:ext cx="2895600" cy="357188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r"/>
            <a:r>
              <a:rPr lang="sv-SE" sz="1400">
                <a:solidFill>
                  <a:schemeClr val="tx2"/>
                </a:solidFill>
              </a:rPr>
              <a:t>Comprehensive Examination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4729162"/>
            <a:ext cx="457200" cy="3571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8F82E0A0-C266-4798-8C8F-B9F91E9DA37E}" type="slidenum">
              <a:rPr lang="en-US" sz="1400" b="1" smtClean="0">
                <a:solidFill>
                  <a:srgbClr val="FFFFFF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41"/>
            <a:ext cx="73152" cy="5143541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fade/>
  </p:transition>
  <p:hf hdr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52400" y="1962150"/>
            <a:ext cx="9601200" cy="838200"/>
          </a:xfrm>
        </p:spPr>
        <p:txBody>
          <a:bodyPr>
            <a:no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3200" b="1" cap="none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Oriented Programming using Java (ECSE102L)</a:t>
            </a:r>
            <a:endParaRPr lang="en-US" sz="32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333500" y="4286250"/>
            <a:ext cx="6972300" cy="800100"/>
          </a:xfrm>
        </p:spPr>
        <p:txBody>
          <a:bodyPr>
            <a:noAutofit/>
          </a:bodyPr>
          <a:lstStyle/>
          <a:p>
            <a:pPr algn="ctr"/>
            <a:endParaRPr lang="en-US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0150"/>
            <a:ext cx="7485888" cy="3657600"/>
          </a:xfrm>
        </p:spPr>
        <p:txBody>
          <a:bodyPr>
            <a:normAutofit/>
          </a:bodyPr>
          <a:lstStyle/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Sorting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Bubble Sort  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Insertion Sort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Selection Sort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272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is any process of arranging items systematically.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Ordering: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Arranging items in a sequence ordered by some criterion.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Categorizing: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Grouping items with similar properties.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Sorting can be done on names, numbers and records.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sorting algorithm is used to rearrange the elements of a given array.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81372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Why Sorting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To monitor data properly.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itchFamily="18" charset="0"/>
              </a:rPr>
              <a:t>To improve efficiency.</a:t>
            </a: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435097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47750"/>
            <a:ext cx="8001000" cy="38100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 is a simple and effective sorting algorithm.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elements are placed adjacent to each other.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 starts from one end (left side) and compares 2 adjacent elements.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swaps the elements, if they are not in the correct order.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reaches the end of the elements (right side), it starts over until all the data is in the correct order.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924916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600" b="1" dirty="0">
                <a:latin typeface="Times New Roman" panose="02020603050405020304" pitchFamily="18" charset="0"/>
                <a:cs typeface="Times New Roman" pitchFamily="18" charset="0"/>
              </a:rPr>
              <a:t>Algorithm: </a:t>
            </a:r>
            <a:r>
              <a:rPr lang="en-US" sz="2600" dirty="0">
                <a:latin typeface="Times New Roman" panose="02020603050405020304" pitchFamily="18" charset="0"/>
                <a:cs typeface="Times New Roman" pitchFamily="18" charset="0"/>
              </a:rPr>
              <a:t>Consider there are 5 unordered elements in the array.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first two elements and sort them in ascending order.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second and third elements to check which one is greater, and sort them in ascending order.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third and fourth elements to check which one is greater, and sort them in ascending order.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fourth and fifth element to check which one is greater, and sort them in ascending order.</a:t>
            </a:r>
          </a:p>
          <a:p>
            <a:pPr marL="82296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1-5 until no more swaps are required.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1365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Advantage: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Easy to understand.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Fast to implement.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Disadvantage: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Can’t deal with a large set of data/element.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Slow.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824487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Example: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Iteration </a:t>
            </a: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918619FB-EE94-49A6-9416-16BDF8B86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350040"/>
              </p:ext>
            </p:extLst>
          </p:nvPr>
        </p:nvGraphicFramePr>
        <p:xfrm>
          <a:off x="1790700" y="134366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9115243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3164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09157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970486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649593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8289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23235"/>
                  </a:ext>
                </a:extLst>
              </a:tr>
            </a:tbl>
          </a:graphicData>
        </a:graphic>
      </p:graphicFrame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C37A95AA-18A0-48E0-AFA8-A35A1878F0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92" y="1833260"/>
            <a:ext cx="4058216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337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Example (</a:t>
            </a:r>
            <a:r>
              <a:rPr lang="en-US" sz="2400" b="1" dirty="0" err="1">
                <a:latin typeface="Times New Roman" panose="02020603050405020304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…):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Iteration </a:t>
            </a: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918619FB-EE94-49A6-9416-16BDF8B8624F}"/>
              </a:ext>
            </a:extLst>
          </p:cNvPr>
          <p:cNvGraphicFramePr>
            <a:graphicFrameLocks noGrp="1"/>
          </p:cNvGraphicFramePr>
          <p:nvPr/>
        </p:nvGraphicFramePr>
        <p:xfrm>
          <a:off x="1790700" y="134366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9115243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3164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09157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970486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649593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8289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23235"/>
                  </a:ext>
                </a:extLst>
              </a:tr>
            </a:tbl>
          </a:graphicData>
        </a:graphic>
      </p:graphicFrame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51CB4625-1DC7-4F6F-809D-E4DD3A01A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463" y="1809750"/>
            <a:ext cx="3982006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014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Example (</a:t>
            </a:r>
            <a:r>
              <a:rPr lang="en-US" sz="2400" b="1" dirty="0" err="1">
                <a:latin typeface="Times New Roman" panose="02020603050405020304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…):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Iteration 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Iteration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Iteration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918619FB-EE94-49A6-9416-16BDF8B8624F}"/>
              </a:ext>
            </a:extLst>
          </p:cNvPr>
          <p:cNvGraphicFramePr>
            <a:graphicFrameLocks noGrp="1"/>
          </p:cNvGraphicFramePr>
          <p:nvPr/>
        </p:nvGraphicFramePr>
        <p:xfrm>
          <a:off x="1790700" y="134366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9115243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31648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09157498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9704863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66495938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682896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923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258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Example (</a:t>
            </a:r>
            <a:r>
              <a:rPr lang="en-US" sz="2400" b="1" dirty="0" err="1">
                <a:latin typeface="Times New Roman" panose="02020603050405020304" pitchFamily="18" charset="0"/>
                <a:cs typeface="Times New Roman" pitchFamily="18" charset="0"/>
              </a:rPr>
              <a:t>Cont</a:t>
            </a:r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…):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After 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itchFamily="18" charset="0"/>
              </a:rPr>
              <a:t>st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 iteration only the highest element/value is sorted.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After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itchFamily="18" charset="0"/>
              </a:rPr>
              <a:t>nd</a:t>
            </a: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 iteration two elements/values are sorted.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itchFamily="18" charset="0"/>
              </a:rPr>
              <a:t>And so on…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569803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the elements are already sorted?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if only a few elements are not sorted and after a couple of swap the elements get sorted?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use a Boolean variable to determine if any swapping occurred or not.</a:t>
            </a:r>
          </a:p>
          <a:p>
            <a:pPr lvl="1" algn="just">
              <a:buFont typeface="Wingdings" panose="05000000000000000000" pitchFamily="2" charset="2"/>
              <a:buChar char="v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swapping occurred, then we know that the collection is already sorted.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87807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Bubble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Bubble Sort algorithm to sort the below elements: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88C376A-50EC-4E01-B02B-85F79D9BC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22043"/>
              </p:ext>
            </p:extLst>
          </p:nvPr>
        </p:nvGraphicFramePr>
        <p:xfrm>
          <a:off x="2057400" y="2308860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9332107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5850412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469186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109040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621798388"/>
                    </a:ext>
                  </a:extLst>
                </a:gridCol>
              </a:tblGrid>
              <a:tr h="13398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11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724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Insertion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simple sorting algorithm that sorts an array/elements by shifting element one.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elements are compared with each other sequentially.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 is adaptive i.e. it reduces its total number of steps, if a partially sorted array is given.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each iteration moves an element from unsorted portion to sorted portion until all the elements are sorted in the list.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481906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Insertion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 marL="82296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first element in the list is in sorted portion and all the remaining elements are in unsorted portion.</a:t>
            </a:r>
          </a:p>
          <a:p>
            <a:pPr marL="82296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 first element from the unsorted portion and insert that element into the sorted portion in the order specified.</a:t>
            </a:r>
          </a:p>
          <a:p>
            <a:pPr marL="82296" indent="0" algn="just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above process until all the elements from the unsorted portion are moved into the sorted portion.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234173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Insertion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</a:p>
          <a:p>
            <a:pPr lvl="1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almost sorted array/elements.</a:t>
            </a:r>
          </a:p>
          <a:p>
            <a:pPr lvl="1" algn="just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less efficient for an array/list containing more number of elements.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number of elements increases, the performance is slow.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771890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Insertion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2296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Picture 5" descr="A close up of a keyboard&#10;&#10;Description automatically generated">
            <a:extLst>
              <a:ext uri="{FF2B5EF4-FFF2-40B4-BE49-F238E27FC236}">
                <a16:creationId xmlns:a16="http://schemas.microsoft.com/office/drawing/2014/main" id="{07E20119-251D-4821-BA7F-BE7020977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605280"/>
            <a:ext cx="3048425" cy="3538220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7287912-E518-4C8E-B287-1116E2A3A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497203"/>
              </p:ext>
            </p:extLst>
          </p:nvPr>
        </p:nvGraphicFramePr>
        <p:xfrm>
          <a:off x="2971800" y="1300480"/>
          <a:ext cx="40386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720">
                  <a:extLst>
                    <a:ext uri="{9D8B030D-6E8A-4147-A177-3AD203B41FA5}">
                      <a16:colId xmlns:a16="http://schemas.microsoft.com/office/drawing/2014/main" val="4107372803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69553145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4100876129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1744475198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1826039599"/>
                    </a:ext>
                  </a:extLst>
                </a:gridCol>
              </a:tblGrid>
              <a:tr h="28067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19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2656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Insertion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Insertion Sort algorithm to sort the below elements: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77373CDB-8F76-439F-8404-53158531B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168241"/>
              </p:ext>
            </p:extLst>
          </p:nvPr>
        </p:nvGraphicFramePr>
        <p:xfrm>
          <a:off x="2039007" y="230124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492786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3862538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2841336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60341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79362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086974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29178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82988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67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313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Selection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Selection sort algorithm is based on the idea of finding the minimum or maximum element in an unsorted array.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It selects the smallest element from an unsorted list in each iteration and places that element at the beginning of the unsorted list.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685682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Selection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Algorithm: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Select the first element of the array.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Step 2: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Compare the selected element with all the other elements in the list.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Step 3: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 every comparison, if any element is found smaller than the selected element, both are swapped.</a:t>
            </a:r>
          </a:p>
          <a:p>
            <a:pPr marL="82296" indent="0" algn="just">
              <a:buNone/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Step 4: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Repeat the same procedure with element in the next position in the array till the entire array is sorted.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790195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Selection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depend on the initial arrangement of the data.</a:t>
            </a:r>
          </a:p>
          <a:p>
            <a:pPr lvl="1">
              <a:buClr>
                <a:srgbClr val="0070C0"/>
              </a:buClr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implementation.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searches are required.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5471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Selection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742950"/>
            <a:ext cx="8001000" cy="4114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85E714F2-994C-4FE2-9860-A5B55C0D81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39875"/>
              </p:ext>
            </p:extLst>
          </p:nvPr>
        </p:nvGraphicFramePr>
        <p:xfrm>
          <a:off x="1943100" y="1189803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40348771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0540938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6303454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46148855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22299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295842"/>
                  </a:ext>
                </a:extLst>
              </a:tr>
            </a:tbl>
          </a:graphicData>
        </a:graphic>
      </p:graphicFrame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2C8325DA-54F6-4F7B-A2F8-9949DC946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138" y="2012283"/>
            <a:ext cx="4619924" cy="246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12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696200" cy="857250"/>
          </a:xfrm>
        </p:spPr>
        <p:txBody>
          <a:bodyPr>
            <a:normAutofit/>
          </a:bodyPr>
          <a:lstStyle/>
          <a:p>
            <a:pPr algn="ctr"/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Selection Sort (</a:t>
            </a:r>
            <a:r>
              <a:rPr lang="en-US" sz="3000" b="1" dirty="0" err="1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sz="3000" b="1" dirty="0">
                <a:solidFill>
                  <a:srgbClr val="0070C0"/>
                </a:solidFill>
                <a:effectLst/>
                <a:latin typeface="Times New Roman" pitchFamily="18" charset="0"/>
                <a:cs typeface="Times New Roman" pitchFamily="18" charset="0"/>
              </a:rPr>
              <a:t>…)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57250"/>
            <a:ext cx="8001000" cy="40005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Selection Sort algorithm to sort the below elements: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altLang="en-US" sz="2000" b="1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endParaRPr lang="en-US"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4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82296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539496" indent="-457200" algn="just">
              <a:buFont typeface="+mj-lt"/>
              <a:buAutoNum type="arabicPeriod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9391B-7504-45C9-9DE3-8766B2043D5B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: Beveled 4">
            <a:extLst>
              <a:ext uri="{FF2B5EF4-FFF2-40B4-BE49-F238E27FC236}">
                <a16:creationId xmlns:a16="http://schemas.microsoft.com/office/drawing/2014/main" id="{FA857F04-D939-407B-9278-056C8F14C5E7}"/>
              </a:ext>
            </a:extLst>
          </p:cNvPr>
          <p:cNvSpPr/>
          <p:nvPr/>
        </p:nvSpPr>
        <p:spPr>
          <a:xfrm>
            <a:off x="8827380" y="9526"/>
            <a:ext cx="304800" cy="347662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77373CDB-8F76-439F-8404-53158531B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7881918"/>
              </p:ext>
            </p:extLst>
          </p:nvPr>
        </p:nvGraphicFramePr>
        <p:xfrm>
          <a:off x="1943100" y="220091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49278602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3862538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2841336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603413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5079362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0869741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1291786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82988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673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958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BDC88-5686-4D8C-A45E-430AC6155FF9}" type="datetime1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1/29/2020</a:t>
            </a:fld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sv-SE">
                <a:latin typeface="Times New Roman" pitchFamily="18" charset="0"/>
                <a:cs typeface="Times New Roman" pitchFamily="18" charset="0"/>
              </a:rPr>
              <a:t>Comprehensive Examination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lnSpcReduction="10000"/>
          </a:bodyPr>
          <a:lstStyle/>
          <a:p>
            <a:pPr algn="ctr"/>
            <a:fld id="{8F82E0A0-C266-4798-8C8F-B9F91E9DA37E}" type="slidenum">
              <a:rPr lang="en-US" sz="2800" b="1" smtClean="0">
                <a:solidFill>
                  <a:srgbClr val="FFFFFF"/>
                </a:solidFill>
                <a:latin typeface="Times New Roman" pitchFamily="18" charset="0"/>
                <a:cs typeface="Times New Roman" pitchFamily="18" charset="0"/>
              </a:rPr>
              <a:pPr algn="ctr"/>
              <a:t>24</a:t>
            </a:fld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014" y="2985191"/>
            <a:ext cx="5126986" cy="2158309"/>
          </a:xfrm>
          <a:prstGeom prst="rect">
            <a:avLst/>
          </a:prstGeom>
        </p:spPr>
      </p:pic>
      <p:pic>
        <p:nvPicPr>
          <p:cNvPr id="10" name="Picture 9" descr="263762-frederika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62400" y="0"/>
            <a:ext cx="5181600" cy="3028950"/>
          </a:xfrm>
          <a:prstGeom prst="rect">
            <a:avLst/>
          </a:prstGeom>
        </p:spPr>
      </p:pic>
      <p:pic>
        <p:nvPicPr>
          <p:cNvPr id="13" name="Picture 12" descr="10426693503_00e4413427_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4038599" cy="514350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WidescreenPresentatio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1114</Words>
  <Application>Microsoft Office PowerPoint</Application>
  <PresentationFormat>On-screen Show (16:9)</PresentationFormat>
  <Paragraphs>420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 Black</vt:lpstr>
      <vt:lpstr>Calibri</vt:lpstr>
      <vt:lpstr>Gill Sans MT</vt:lpstr>
      <vt:lpstr>Times New Roman</vt:lpstr>
      <vt:lpstr>Tw Cen MT</vt:lpstr>
      <vt:lpstr>Verdana</vt:lpstr>
      <vt:lpstr>Wingdings</vt:lpstr>
      <vt:lpstr>Wingdings 2</vt:lpstr>
      <vt:lpstr>WidescreenPresentation</vt:lpstr>
      <vt:lpstr>Solstice</vt:lpstr>
      <vt:lpstr>Object Oriented Programming using Java (ECSE102L)</vt:lpstr>
      <vt:lpstr>Outline</vt:lpstr>
      <vt:lpstr>Sorting</vt:lpstr>
      <vt:lpstr>Why Sorting is Important?</vt:lpstr>
      <vt:lpstr>Bubble Sort</vt:lpstr>
      <vt:lpstr>Bubble Sort (Cont…)</vt:lpstr>
      <vt:lpstr>Bubble Sort (Cont…)</vt:lpstr>
      <vt:lpstr>Bubble Sort (Cont…)</vt:lpstr>
      <vt:lpstr>Bubble Sort (Cont…)</vt:lpstr>
      <vt:lpstr>Bubble Sort (Cont…)</vt:lpstr>
      <vt:lpstr>Bubble Sort (Cont…)</vt:lpstr>
      <vt:lpstr>Bubble Sort (Cont…)</vt:lpstr>
      <vt:lpstr>Bubble Sort (Cont…)</vt:lpstr>
      <vt:lpstr>Insertion Sort</vt:lpstr>
      <vt:lpstr>Insertion Sort (Cont…)</vt:lpstr>
      <vt:lpstr>Insertion Sort (Cont…)</vt:lpstr>
      <vt:lpstr>Insertion Sort (Cont…)</vt:lpstr>
      <vt:lpstr>Insertion Sort (Cont…)</vt:lpstr>
      <vt:lpstr>Selection Sort</vt:lpstr>
      <vt:lpstr>Selection Sort (Cont…)</vt:lpstr>
      <vt:lpstr>Selection Sort (Cont…)</vt:lpstr>
      <vt:lpstr>Selection Sort (Cont…)</vt:lpstr>
      <vt:lpstr>Selection Sort (Cont…)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2012-12-10T10:37:09Z</dcterms:created>
  <dcterms:modified xsi:type="dcterms:W3CDTF">2020-01-29T05:58:52Z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1033</vt:i4>
  </property>
  <property fmtid="{D5CDD505-2E9C-101B-9397-08002B2CF9AE}" pid="3" name="_Version">
    <vt:lpwstr>12.0.4518</vt:lpwstr>
  </property>
</Properties>
</file>