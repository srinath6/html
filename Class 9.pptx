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  <p:sldMasterId id="2147483660" r:id="rId2"/>
  </p:sldMasterIdLst>
  <p:notesMasterIdLst>
    <p:notesMasterId r:id="rId27"/>
  </p:notesMasterIdLst>
  <p:handoutMasterIdLst>
    <p:handoutMasterId r:id="rId28"/>
  </p:handoutMasterIdLst>
  <p:sldIdLst>
    <p:sldId id="283" r:id="rId3"/>
    <p:sldId id="375" r:id="rId4"/>
    <p:sldId id="794" r:id="rId5"/>
    <p:sldId id="806" r:id="rId6"/>
    <p:sldId id="807" r:id="rId7"/>
    <p:sldId id="808" r:id="rId8"/>
    <p:sldId id="809" r:id="rId9"/>
    <p:sldId id="810" r:id="rId10"/>
    <p:sldId id="812" r:id="rId11"/>
    <p:sldId id="811" r:id="rId12"/>
    <p:sldId id="813" r:id="rId13"/>
    <p:sldId id="796" r:id="rId14"/>
    <p:sldId id="814" r:id="rId15"/>
    <p:sldId id="815" r:id="rId16"/>
    <p:sldId id="822" r:id="rId17"/>
    <p:sldId id="828" r:id="rId18"/>
    <p:sldId id="827" r:id="rId19"/>
    <p:sldId id="816" r:id="rId20"/>
    <p:sldId id="817" r:id="rId21"/>
    <p:sldId id="818" r:id="rId22"/>
    <p:sldId id="819" r:id="rId23"/>
    <p:sldId id="820" r:id="rId24"/>
    <p:sldId id="821" r:id="rId25"/>
    <p:sldId id="261" r:id="rId26"/>
  </p:sldIdLst>
  <p:sldSz cx="9144000" cy="5143500" type="screen16x9"/>
  <p:notesSz cx="6858000" cy="9144000"/>
  <p:defaultTextStyle>
    <a:lvl1pPr marL="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  <a:extLst/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44" autoAdjust="0"/>
    <p:restoredTop sz="94353" autoAdjust="0"/>
  </p:normalViewPr>
  <p:slideViewPr>
    <p:cSldViewPr>
      <p:cViewPr varScale="1">
        <p:scale>
          <a:sx n="91" d="100"/>
          <a:sy n="91" d="100"/>
        </p:scale>
        <p:origin x="642" y="9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52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308"/>
    </p:cViewPr>
  </p:sorterViewPr>
  <p:notesViewPr>
    <p:cSldViewPr>
      <p:cViewPr varScale="1">
        <p:scale>
          <a:sx n="56" d="100"/>
          <a:sy n="56" d="100"/>
        </p:scale>
        <p:origin x="-2544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E7CCEC-F375-47DE-A104-C51D471F5D4A}" type="datetimeFigureOut">
              <a:rPr lang="en-US" smtClean="0"/>
              <a:pPr/>
              <a:t>1/22/2020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CIA Group, NIT Silchar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2A8795-897B-48CF-9E16-76DD5A1A90C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019695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  <a:extLst/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  <a:extLst/>
          </a:lstStyle>
          <a:p>
            <a:fld id="{A8ADFD5B-A66C-449C-B6E8-FB716D07777D}" type="datetimeFigureOut">
              <a:rPr lang="en-US" smtClean="0"/>
              <a:pPr/>
              <a:t>1/22/2020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  <a:extLst/>
          </a:lstStyle>
          <a:p>
            <a:r>
              <a:rPr lang="en-US"/>
              <a:t>CIA Group, NIT Silchar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  <a:extLst/>
          </a:lstStyle>
          <a:p>
            <a:fld id="{CA5D3BF3-D352-46FC-8343-31F56E6730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912607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8ADFD5B-A66C-449C-B6E8-FB716D07777D}" type="datetimeFigureOut">
              <a:rPr lang="en-US" smtClean="0"/>
              <a:pPr/>
              <a:t>1/22/2020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1/22/2020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491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1/22/2020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71530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1/22/2020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4619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1/22/2020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7467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1/22/2020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6281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1/22/2020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4930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1/22/2020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5380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1/22/2020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4488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1/22/2020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1070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1/22/2020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2169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1/22/2020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0143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1/22/2020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0886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1/22/2020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0126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1/22/2020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3194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1/22/2020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9075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1/22/2020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7012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1/22/2020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5524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1/22/2020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444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1/22/2020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5961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1/22/2020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3292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1/22/2020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3516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1/22/2020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0450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8B4435BD-B0AE-4783-8DAA-2C1BEA779722}" type="datetime1">
              <a:rPr lang="en-US" smtClean="0"/>
              <a:pPr/>
              <a:t>1/22/2020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CIA Group, NIT Silchar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24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478274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-9144" y="4539996"/>
            <a:ext cx="2249424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359152" y="4533138"/>
            <a:ext cx="6784848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4537528"/>
            <a:ext cx="6515100" cy="514350"/>
          </a:xfrm>
        </p:spPr>
        <p:txBody>
          <a:bodyPr anchor="ctr"/>
          <a:lstStyle>
            <a:lvl1pPr marL="0" indent="0" algn="l">
              <a:buNone/>
              <a:defRPr sz="28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4551524"/>
            <a:ext cx="2057400" cy="51435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7D9E0201-1172-46A8-B449-C16CA273C4C0}" type="datetime1">
              <a:rPr lang="en-US" smtClean="0">
                <a:solidFill>
                  <a:srgbClr val="FFFFFF"/>
                </a:solidFill>
              </a:rPr>
              <a:pPr algn="ctr"/>
              <a:t>1/22/2020</a:t>
            </a:fld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177404"/>
            <a:ext cx="5867400" cy="273844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  <a:extLst/>
          </a:lstStyle>
          <a:p>
            <a:pPr algn="r"/>
            <a:r>
              <a:rPr lang="sv-SE">
                <a:solidFill>
                  <a:schemeClr val="tx2"/>
                </a:solidFill>
              </a:rPr>
              <a:t>Comprehensive Examination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171450"/>
            <a:ext cx="838200" cy="2857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8F82E0A0-C266-4798-8C8F-B9F91E9DA37E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>
            <p:ph type="title"/>
          </p:nvPr>
        </p:nvSpPr>
        <p:spPr>
          <a:xfrm>
            <a:off x="2362200" y="2343150"/>
            <a:ext cx="6477000" cy="2038350"/>
          </a:xfrm>
        </p:spPr>
        <p:txBody>
          <a:bodyPr rtlCol="0" anchor="b"/>
          <a:lstStyle>
            <a:lvl1pPr>
              <a:defRPr cap="all" baseline="0"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6CF04-9D38-4138-96FE-8590975F0570}" type="datetime1">
              <a:rPr lang="en-US" smtClean="0"/>
              <a:pPr/>
              <a:t>1/22/2020</a:t>
            </a:fld>
            <a:endParaRPr lang="en-US" dirty="0"/>
          </a:p>
        </p:txBody>
      </p:sp>
      <p:sp>
        <p:nvSpPr>
          <p:cNvPr id="4" name="Rectangl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609600" y="1352550"/>
            <a:ext cx="8153400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057400"/>
            <a:ext cx="7123113" cy="1254919"/>
          </a:xfrm>
        </p:spPr>
        <p:txBody>
          <a:bodyPr anchor="t"/>
          <a:lstStyle>
            <a:lvl1pPr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9144000" cy="85725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200150"/>
            <a:ext cx="1295400" cy="7429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371600" y="1200150"/>
            <a:ext cx="7772400" cy="7429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1200150"/>
            <a:ext cx="7620000" cy="74295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  <a:extLst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0BA6-F9BC-4237-A171-55B2A5EA49AC}" type="datetime1">
              <a:rPr lang="en-US" smtClean="0"/>
              <a:pPr/>
              <a:t>1/22/2020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314450"/>
            <a:ext cx="1295400" cy="526257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lang="en-US" sz="2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352551"/>
            <a:ext cx="3886200" cy="3268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844901" y="1352549"/>
            <a:ext cx="3886200" cy="3268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7BB07DAD-E28C-4101-A1A4-96E7BC35467B}" type="datetime1">
              <a:rPr lang="en-US" smtClean="0"/>
              <a:pPr/>
              <a:t>1/22/2020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sv-SE"/>
              <a:t>Comprehensive Examination</a:t>
            </a:r>
            <a:endParaRPr 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18110"/>
            <a:ext cx="8153400" cy="100584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919818"/>
            <a:ext cx="3886200" cy="262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919818"/>
            <a:ext cx="3886200" cy="262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6D69AE0B-12EF-42DE-B742-20E75D13F465}" type="datetime1">
              <a:rPr lang="en-US" smtClean="0"/>
              <a:pPr/>
              <a:t>1/22/2020</a:t>
            </a:fld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609600" y="1362287"/>
            <a:ext cx="3886200" cy="530352"/>
          </a:xfrm>
          <a:solidFill>
            <a:schemeClr val="accent2"/>
          </a:solidFill>
        </p:spPr>
        <p:txBody>
          <a:bodyPr rtlCol="0" anchor="ctr"/>
          <a:lstStyle>
            <a:lvl1pPr>
              <a:buFontTx/>
              <a:buNone/>
              <a:defRPr sz="2000" b="1">
                <a:solidFill>
                  <a:srgbClr val="FFFFFF"/>
                </a:solidFill>
              </a:defRPr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4800600" y="1362287"/>
            <a:ext cx="3886200" cy="530352"/>
          </a:xfrm>
          <a:solidFill>
            <a:schemeClr val="accent4"/>
          </a:solidFill>
        </p:spPr>
        <p:txBody>
          <a:bodyPr rtlCol="0" anchor="ctr"/>
          <a:lstStyle>
            <a:lvl1pPr>
              <a:buFontTx/>
              <a:buNone/>
              <a:defRPr sz="2000" b="1">
                <a:solidFill>
                  <a:srgbClr val="FFFFFF"/>
                </a:solidFill>
              </a:defRPr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20636-CDAB-48CF-9828-BF9910A1BB53}" type="datetime1">
              <a:rPr lang="en-US" smtClean="0"/>
              <a:pPr/>
              <a:t>1/22/2020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8649A-142D-4661-9B46-41CD3A9827AE}" type="datetime1">
              <a:rPr lang="en-US" smtClean="0"/>
              <a:pPr/>
              <a:t>1/22/2020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4686300"/>
            <a:ext cx="533400" cy="2857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</p:spPr>
        <p:txBody>
          <a:bodyPr anchor="b"/>
          <a:lstStyle>
            <a:lvl1pPr algn="l">
              <a:buNone/>
              <a:defRPr sz="4200" b="0"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FF55C-8DA9-42A6-9B12-54705FFFEF92}" type="datetime1">
              <a:rPr lang="en-US" smtClean="0"/>
              <a:pPr/>
              <a:t>1/22/2020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28750"/>
            <a:ext cx="1600200" cy="31242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2362200" y="1428750"/>
            <a:ext cx="6400800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57668" y="0"/>
            <a:ext cx="7586332" cy="3419856"/>
          </a:xfrm>
          <a:solidFill>
            <a:schemeClr val="tx2">
              <a:shade val="50000"/>
            </a:schemeClr>
          </a:solidFill>
          <a:ln>
            <a:noFill/>
          </a:ln>
        </p:spPr>
        <p:txBody>
          <a:bodyPr/>
          <a:lstStyle>
            <a:lvl1pPr>
              <a:buNone/>
              <a:defRPr sz="3200"/>
            </a:lvl1pPr>
            <a:extLst/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4114800"/>
            <a:ext cx="7315200" cy="51435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-9144" y="3429000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-9144" y="3497580"/>
            <a:ext cx="1463040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545336" y="3490722"/>
            <a:ext cx="7589520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543300"/>
            <a:ext cx="7315200" cy="4572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447800" y="0"/>
            <a:ext cx="100584" cy="515035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4686300"/>
            <a:ext cx="2667000" cy="273844"/>
          </a:xfrm>
        </p:spPr>
        <p:txBody>
          <a:bodyPr rtlCol="0"/>
          <a:lstStyle/>
          <a:p>
            <a:fld id="{DC3FF209-DE36-4729-95CB-0AA76895932A}" type="datetime1">
              <a:rPr lang="en-US" smtClean="0"/>
              <a:pPr/>
              <a:t>1/22/2020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3500437"/>
            <a:ext cx="1447800" cy="497684"/>
          </a:xfrm>
        </p:spPr>
        <p:txBody>
          <a:bodyPr rtlCol="0"/>
          <a:lstStyle>
            <a:lvl1pPr>
              <a:defRPr sz="2800"/>
            </a:lvl1pPr>
            <a:extLst/>
          </a:lstStyle>
          <a:p>
            <a:pPr algn="ctr"/>
            <a:fld id="{8F82E0A0-C266-4798-8C8F-B9F91E9DA37E}" type="slidenum">
              <a:rPr lang="en-US" sz="28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2800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4686155"/>
            <a:ext cx="4572000" cy="273844"/>
          </a:xfrm>
        </p:spPr>
        <p:txBody>
          <a:bodyPr rtlCol="0"/>
          <a:lstStyle/>
          <a:p>
            <a:r>
              <a:rPr lang="sv-SE"/>
              <a:t>Comprehensive Examination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435E0-6C97-4F43-A6D8-9B45077C310A}" type="datetime1">
              <a:rPr lang="en-US" smtClean="0"/>
              <a:pPr/>
              <a:t>1/22/2020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82512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269923"/>
            <a:ext cx="7406640" cy="1104138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387548"/>
            <a:ext cx="7406640" cy="131445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67CD7FE0-7A06-4323-A633-093765BF90D0}" type="datetime1">
              <a:rPr lang="en-US" smtClean="0">
                <a:solidFill>
                  <a:srgbClr val="FFFFFF"/>
                </a:solidFill>
              </a:rPr>
              <a:pPr algn="ctr"/>
              <a:t>1/22/2020</a:t>
            </a:fld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sv-SE">
                <a:solidFill>
                  <a:schemeClr val="tx2"/>
                </a:solidFill>
              </a:rPr>
              <a:t>Comprehensive Examination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921433" y="1060352"/>
            <a:ext cx="210312" cy="157734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008762"/>
            <a:ext cx="64008" cy="48006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 Black" pitchFamily="34" charset="0"/>
              </a:defRPr>
            </a:lvl1pPr>
            <a:extLst/>
          </a:lstStyle>
          <a:p>
            <a:fld id="{E25FD23A-F8F8-4D69-A395-0AF2E89CE2FE}" type="datetime1">
              <a:rPr lang="en-US" smtClean="0"/>
              <a:pPr/>
              <a:t>1/22/2020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 Black" pitchFamily="34" charset="0"/>
              </a:defRPr>
            </a:lvl1pPr>
            <a:extLst/>
          </a:lstStyle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 Black" pitchFamily="34" charset="0"/>
              </a:defRPr>
            </a:lvl1pPr>
            <a:extLst/>
          </a:lstStyle>
          <a:p>
            <a:fld id="{8379391B-7504-45C9-9DE3-8766B2043D5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41"/>
            <a:ext cx="6858000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1950244"/>
            <a:ext cx="6400800" cy="17145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800100"/>
            <a:ext cx="6400800" cy="1132284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4E1A9-E001-42AC-A12F-6AE7E6ACAE3C}" type="datetime1">
              <a:rPr lang="en-US" smtClean="0"/>
              <a:pPr/>
              <a:t>1/22/2020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2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110992"/>
            <a:ext cx="210312" cy="157734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059403"/>
            <a:ext cx="64008" cy="48006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05740"/>
            <a:ext cx="7498080" cy="85725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143000"/>
            <a:ext cx="3657600" cy="34975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143000"/>
            <a:ext cx="3657600" cy="34975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C0CAF-2C82-460F-90D1-C2C7BBC7E712}" type="datetime1">
              <a:rPr lang="en-US" smtClean="0"/>
              <a:pPr/>
              <a:t>1/22/2020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70252"/>
            <a:ext cx="8229600" cy="85725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46209"/>
            <a:ext cx="4023360" cy="48006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246209"/>
            <a:ext cx="4023360" cy="48006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727002"/>
            <a:ext cx="4023360" cy="30861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727002"/>
            <a:ext cx="4023360" cy="30861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89E26-1FCC-4B3F-B660-C2B03C75462E}" type="datetime1">
              <a:rPr lang="en-US" smtClean="0"/>
              <a:pPr/>
              <a:t>1/22/2020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05740"/>
            <a:ext cx="7498080" cy="85725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AAF2D-C4FA-4AD1-B9C5-541A2E6970C2}" type="datetime1">
              <a:rPr lang="en-US" smtClean="0"/>
              <a:pPr/>
              <a:t>1/22/2020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51435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B0D40-64F2-4F15-9F14-A1518D69498A}" type="datetime1">
              <a:rPr lang="en-US" smtClean="0"/>
              <a:pPr/>
              <a:t>1/22/2020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7CB7D-F184-43C7-B6FD-03D728E1BBFF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41"/>
            <a:ext cx="73152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2583"/>
            <a:ext cx="3810000" cy="871538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055223"/>
            <a:ext cx="3810000" cy="523875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8153400" cy="299442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EEF6F-9573-4DF5-91E4-4DE0B495F90F}" type="datetime1">
              <a:rPr lang="en-US" smtClean="0"/>
              <a:pPr/>
              <a:t>1/22/2020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800100"/>
            <a:ext cx="2743200" cy="14859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42512-B60A-4109-B5B7-BD8026229EC1}" type="datetime1">
              <a:rPr lang="en-US" smtClean="0"/>
              <a:pPr/>
              <a:t>1/22/2020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28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2800" dirty="0"/>
          </a:p>
        </p:txBody>
      </p:sp>
      <p:sp>
        <p:nvSpPr>
          <p:cNvPr id="8" name="Rectangle 7"/>
          <p:cNvSpPr/>
          <p:nvPr/>
        </p:nvSpPr>
        <p:spPr>
          <a:xfrm>
            <a:off x="762000" y="800100"/>
            <a:ext cx="4572000" cy="3429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857253"/>
            <a:ext cx="4419600" cy="2635898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715756"/>
            <a:ext cx="685800" cy="153233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702589"/>
            <a:ext cx="649224" cy="153233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3600450"/>
            <a:ext cx="4419600" cy="5715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C59F6-45D1-4175-A54A-8AB8C4EE273E}" type="datetime1">
              <a:rPr lang="en-US" smtClean="0"/>
              <a:pPr/>
              <a:t>1/22/2020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sv-SE" sz="1400">
                <a:solidFill>
                  <a:schemeClr val="tx2"/>
                </a:solidFill>
              </a:rPr>
              <a:t>Comprehensive Examination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05979"/>
            <a:ext cx="1828800" cy="4388644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05980"/>
            <a:ext cx="5562600" cy="438864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AC681-2384-4687-86E8-D9B3D82CEF60}" type="datetime1">
              <a:rPr lang="en-US" smtClean="0"/>
              <a:pPr/>
              <a:t>1/22/2020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sv-SE" sz="1400">
                <a:solidFill>
                  <a:schemeClr val="tx2"/>
                </a:solidFill>
              </a:rPr>
              <a:t>Comprehensive Examination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352550"/>
            <a:ext cx="8153400" cy="324231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</p:spPr>
        <p:txBody>
          <a:bodyPr vert="horz" anchor="ctr" anchorCtr="0"/>
          <a:lstStyle>
            <a:lvl1pPr algn="l">
              <a:defRPr sz="1400">
                <a:solidFill>
                  <a:schemeClr val="tx2"/>
                </a:solidFill>
              </a:defRPr>
            </a:lvl1pPr>
            <a:extLst/>
          </a:lstStyle>
          <a:p>
            <a:fld id="{DA7DA67F-3754-43B5-87B0-B6D0DE63B7D4}" type="datetime1">
              <a:rPr lang="en-US" smtClean="0"/>
              <a:pPr/>
              <a:t>1/22/2020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</p:spPr>
        <p:txBody>
          <a:bodyPr vert="horz" anchor="ctr"/>
          <a:lstStyle>
            <a:lvl1pPr algn="r">
              <a:defRPr sz="1400">
                <a:solidFill>
                  <a:schemeClr val="tx2"/>
                </a:solidFill>
              </a:defRPr>
            </a:lvl1pPr>
            <a:extLst/>
          </a:lstStyle>
          <a:p>
            <a:pPr algn="r"/>
            <a:r>
              <a:rPr lang="sv-SE" sz="1400">
                <a:solidFill>
                  <a:schemeClr val="tx2"/>
                </a:solidFill>
              </a:rPr>
              <a:t>Comprehensive Examination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95170"/>
            <a:ext cx="9144000" cy="24003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129460"/>
            <a:ext cx="533400" cy="1714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90550" y="1129460"/>
            <a:ext cx="8553450" cy="1714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123507"/>
            <a:ext cx="533400" cy="183357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9" r:id="rId10"/>
  </p:sldLayoutIdLst>
  <p:transition spd="med">
    <p:fade/>
  </p:transition>
  <p:hf hdr="0"/>
  <p:txStyles>
    <p:titleStyle>
      <a:lvl1pPr algn="l" rtl="0" eaLnBrk="1" latinLnBrk="0" hangingPunct="1">
        <a:spcBef>
          <a:spcPct val="0"/>
        </a:spcBef>
        <a:buNone/>
        <a:defRPr sz="4200" kern="1200">
          <a:solidFill>
            <a:schemeClr val="tx2"/>
          </a:solidFill>
          <a:latin typeface="+mj-lt"/>
          <a:ea typeface="+mj-ea"/>
          <a:cs typeface="+mj-cs"/>
        </a:defRPr>
      </a:lvl1pPr>
      <a:extLst/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611941"/>
            <a:ext cx="1638887" cy="1229165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7" y="15827"/>
            <a:ext cx="1702191" cy="1276643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791308"/>
            <a:ext cx="1125717" cy="826968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41"/>
            <a:ext cx="8131127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05978"/>
            <a:ext cx="7498080" cy="85725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085850"/>
            <a:ext cx="7498080" cy="360045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D91CAD21-3FB9-4A34-A2B6-4B037A24C587}" type="datetime1">
              <a:rPr lang="en-US" smtClean="0"/>
              <a:pPr/>
              <a:t>1/22/2020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 algn="r"/>
            <a:r>
              <a:rPr lang="sv-SE" sz="1400">
                <a:solidFill>
                  <a:schemeClr val="tx2"/>
                </a:solidFill>
              </a:rPr>
              <a:t>Comprehensive Examination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41"/>
            <a:ext cx="73152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fade/>
  </p:transition>
  <p:hf hdr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52400" y="1962150"/>
            <a:ext cx="9601200" cy="838200"/>
          </a:xfrm>
        </p:spPr>
        <p:txBody>
          <a:bodyPr>
            <a:no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algn="ctr"/>
            <a:r>
              <a:rPr lang="en-US" sz="3200" b="1" cap="none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Object Oriented Programming using Java (ECSE102L)</a:t>
            </a:r>
            <a:endParaRPr lang="en-US" sz="3200" i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1333500" y="4286250"/>
            <a:ext cx="6972300" cy="800100"/>
          </a:xfrm>
        </p:spPr>
        <p:txBody>
          <a:bodyPr>
            <a:noAutofit/>
          </a:bodyPr>
          <a:lstStyle/>
          <a:p>
            <a:pPr algn="ctr"/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Calibri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200150"/>
            <a:ext cx="7485888" cy="3657600"/>
          </a:xfrm>
        </p:spPr>
        <p:txBody>
          <a:bodyPr>
            <a:normAutofit/>
          </a:bodyPr>
          <a:lstStyle/>
          <a:p>
            <a:pPr marL="539496" indent="-457200" algn="just"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Lifecycle of an Object</a:t>
            </a: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Wrapper Classes</a:t>
            </a: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82296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272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Lifecycle of an 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7485888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There are four parts in lifecycle of an Object: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Object creation</a:t>
            </a: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Object accessing </a:t>
            </a: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Object not accessing </a:t>
            </a: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Garbage collection 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82296" indent="0" algn="just"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3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813729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Lifecycle of an Object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7485888" cy="4229100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There are four parts in lifecycle of an Object (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…):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Object creation: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We create an object by using new keyword.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We can initialize reference variable with the object. </a:t>
            </a:r>
          </a:p>
          <a:p>
            <a:pPr marL="402336" lvl="1" indent="0" algn="just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402336" lvl="1" indent="0" algn="just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public class Creation</a:t>
            </a:r>
          </a:p>
          <a:p>
            <a:pPr marL="402336" lvl="1" indent="0" algn="just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marL="402336" lvl="1" indent="0" algn="just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public static void main (string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args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[])</a:t>
            </a:r>
          </a:p>
          <a:p>
            <a:pPr marL="402336" lvl="1" indent="0" algn="just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{</a:t>
            </a:r>
          </a:p>
          <a:p>
            <a:pPr marL="402336" lvl="1" indent="0" algn="just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 Creation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abc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 new Creation();</a:t>
            </a:r>
          </a:p>
          <a:p>
            <a:pPr marL="402336" lvl="1" indent="0" algn="just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}</a:t>
            </a:r>
          </a:p>
          <a:p>
            <a:pPr marL="402336" lvl="1" indent="0" algn="just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4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777D00D4-8840-4E4D-90E8-79A5AD38C836}"/>
              </a:ext>
            </a:extLst>
          </p:cNvPr>
          <p:cNvSpPr/>
          <p:nvPr/>
        </p:nvSpPr>
        <p:spPr>
          <a:xfrm>
            <a:off x="8839200" y="14288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332918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Lifecycle of an Object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7485888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There are four parts in lifecycle of an Object 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…):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Object accessing: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When we create an object, we can access it.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We can access it, till the statements/conditions are true. 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If we reassign another object to an initialized reference variable, the previous object becomes inaccessible.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5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88B35C52-9D3D-4E25-9711-41EC2EDC16BC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758132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Lifecycle of an Object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666750"/>
            <a:ext cx="7485888" cy="41910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There are four parts in lifecycle of an Object 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…):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Object accessing (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…):</a:t>
            </a:r>
          </a:p>
          <a:p>
            <a:pPr marL="402336" lvl="1" indent="0" algn="just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6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252139-CC35-4DF2-906F-CE232C4354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1447800"/>
            <a:ext cx="4763165" cy="3714750"/>
          </a:xfrm>
          <a:prstGeom prst="rect">
            <a:avLst/>
          </a:prstGeom>
        </p:spPr>
      </p:pic>
      <p:sp>
        <p:nvSpPr>
          <p:cNvPr id="6" name="Rectangle: Beveled 5">
            <a:extLst>
              <a:ext uri="{FF2B5EF4-FFF2-40B4-BE49-F238E27FC236}">
                <a16:creationId xmlns:a16="http://schemas.microsoft.com/office/drawing/2014/main" id="{B11978C1-A1EA-489C-ACFB-5AD1B2509F72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698544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Lifecycle of an Object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7485888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There are four parts in lifecycle of an Object 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…):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Object accessing (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…):</a:t>
            </a: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marL="658368" lvl="2" indent="0" algn="just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Output: </a:t>
            </a:r>
          </a:p>
          <a:p>
            <a:pPr marL="658368" lvl="2" indent="0" algn="just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923544" lvl="3" indent="0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ID: 2222, Name: Hello</a:t>
            </a:r>
          </a:p>
          <a:p>
            <a:pPr marL="402336" lvl="1" indent="0" algn="just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7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D3AF687A-F527-4C0C-B7C7-A06330945345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19624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Lifecycle of an Object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7485888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There are four parts in lifecycle of an Object (</a:t>
            </a:r>
            <a:r>
              <a:rPr lang="en-US" sz="2400" dirty="0" err="1">
                <a:latin typeface="Times New Roman" panose="02020603050405020304" pitchFamily="18" charset="0"/>
                <a:cs typeface="Times New Roman" pitchFamily="18" charset="0"/>
              </a:rPr>
              <a:t>Cont</a:t>
            </a: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…):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b="1" dirty="0">
                <a:latin typeface="Times New Roman" panose="02020603050405020304" pitchFamily="18" charset="0"/>
                <a:cs typeface="Times New Roman" pitchFamily="18" charset="0"/>
              </a:rPr>
              <a:t>Object not accessing:</a:t>
            </a: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object become inaccessible, if it goes out of scope.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Then, the object is no longer be referenced and compiler makes garbage collection for the object. 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marL="402336" lvl="1" indent="0" algn="just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8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039174EB-A759-46F4-80B5-F7435C249A92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498126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Lifecycle of an Object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7485888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There are four parts in lifecycle of an Object (</a:t>
            </a:r>
            <a:r>
              <a:rPr lang="en-US" sz="2400" dirty="0" err="1">
                <a:latin typeface="Times New Roman" panose="02020603050405020304" pitchFamily="18" charset="0"/>
                <a:cs typeface="Times New Roman" pitchFamily="18" charset="0"/>
              </a:rPr>
              <a:t>Cont</a:t>
            </a: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…):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b="1" dirty="0">
                <a:latin typeface="Times New Roman" panose="02020603050405020304" pitchFamily="18" charset="0"/>
                <a:cs typeface="Times New Roman" pitchFamily="18" charset="0"/>
              </a:rPr>
              <a:t>Object not accessing:</a:t>
            </a: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marL="402336" lvl="1" indent="0" algn="just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9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F95D76-B66E-46F0-86F2-4DBE98A6E2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1657350"/>
            <a:ext cx="4039164" cy="3505200"/>
          </a:xfrm>
          <a:prstGeom prst="rect">
            <a:avLst/>
          </a:prstGeom>
        </p:spPr>
      </p:pic>
      <p:sp>
        <p:nvSpPr>
          <p:cNvPr id="6" name="Rectangle: Beveled 5">
            <a:extLst>
              <a:ext uri="{FF2B5EF4-FFF2-40B4-BE49-F238E27FC236}">
                <a16:creationId xmlns:a16="http://schemas.microsoft.com/office/drawing/2014/main" id="{009DB7CE-3F53-485B-B7FB-63BA41497B1F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085811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Lifecycle of an Object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7485888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There are four parts in lifecycle of an Object 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…):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Garbage collection: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It is a process by which Java programs perform automatic memory management.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Java programs converts to bytecode that can be run on a JVM.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Objects are created on the heap (a portion of memory) dedicated to the program.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If any object is not needed in future, the garbage collector finds these unused objects and deletes them.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10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ACEABFD4-0919-41F0-84EB-C272E357EE5D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569630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Lifecycle of an Object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7485888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There are four parts in lifecycle of an Object 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…):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Garbage collection (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…):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Unreachable objects: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object has become unreachable, if it doesn’t contain any reference to it.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2336" lvl="1" indent="0" algn="ctr"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itchFamily="18" charset="0"/>
              </a:rPr>
              <a:t>Object_Life</a:t>
            </a: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 Emp=new </a:t>
            </a:r>
            <a:r>
              <a:rPr lang="en-US" sz="2000" dirty="0" err="1">
                <a:latin typeface="Times New Roman" panose="02020603050405020304" pitchFamily="18" charset="0"/>
                <a:cs typeface="Times New Roman" pitchFamily="18" charset="0"/>
              </a:rPr>
              <a:t>Object_Life</a:t>
            </a: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();  </a:t>
            </a:r>
          </a:p>
          <a:p>
            <a:pPr marL="402336" lvl="1" indent="0" algn="ctr"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itchFamily="18" charset="0"/>
              </a:rPr>
              <a:t>Emp.Record</a:t>
            </a: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(2019, "Suyel"); </a:t>
            </a:r>
          </a:p>
          <a:p>
            <a:pPr marL="402336" lvl="1" indent="0" algn="ctr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Emp=null;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11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4DD18B13-EA88-4731-88D9-D32ACFA927CB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4990665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Wrapper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7485888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wrapper class is a class whose object wraps or contains a primitive data types.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Wrapper classes provide a way to use primitive data types (int,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boolean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etc..) as objects.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When we create an object to a wrapper class, it contains a field. In this field, we can store a primitive data types.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All the wrapper classes in java are immutable.</a:t>
            </a: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12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5712AAB8-C732-4933-96BE-9F7B5FBDA9CF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868665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Wrapper Classes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7485888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Need of Wrapper Classes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We need object,  when we want to change the arguments passed into a method (call by value). Wrapper classes convert primitive data types into objects.</a:t>
            </a: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 support synchronization with objects in Multithreading.</a:t>
            </a: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Java collection framework (</a:t>
            </a:r>
            <a:r>
              <a:rPr lang="en-US" sz="2000" dirty="0" err="1">
                <a:latin typeface="Times New Roman" panose="02020603050405020304" pitchFamily="18" charset="0"/>
                <a:cs typeface="Times New Roman" pitchFamily="18" charset="0"/>
              </a:rPr>
              <a:t>ArrayList</a:t>
            </a: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, LinkedList, </a:t>
            </a:r>
            <a:r>
              <a:rPr lang="en-US" sz="2000" dirty="0" err="1">
                <a:latin typeface="Times New Roman" panose="02020603050405020304" pitchFamily="18" charset="0"/>
                <a:cs typeface="Times New Roman" pitchFamily="18" charset="0"/>
              </a:rPr>
              <a:t>PriorityQueue</a:t>
            </a: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, etc.) works with objects only.</a:t>
            </a: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13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40CBE829-C5EB-4B5D-81AF-812D6CE43C31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8107323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Wrapper Classes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742950"/>
            <a:ext cx="7485888" cy="41148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eight classes of the 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java.lang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package are known as wrapper classes in Java. </a:t>
            </a: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14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7A90C0A-4A7B-406C-B608-97644B0E76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2906612"/>
              </p:ext>
            </p:extLst>
          </p:nvPr>
        </p:nvGraphicFramePr>
        <p:xfrm>
          <a:off x="3124200" y="1545590"/>
          <a:ext cx="3856694" cy="3540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8347">
                  <a:extLst>
                    <a:ext uri="{9D8B030D-6E8A-4147-A177-3AD203B41FA5}">
                      <a16:colId xmlns:a16="http://schemas.microsoft.com/office/drawing/2014/main" val="3410614092"/>
                    </a:ext>
                  </a:extLst>
                </a:gridCol>
                <a:gridCol w="1928347">
                  <a:extLst>
                    <a:ext uri="{9D8B030D-6E8A-4147-A177-3AD203B41FA5}">
                      <a16:colId xmlns:a16="http://schemas.microsoft.com/office/drawing/2014/main" val="29825021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Primitive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Wrapper 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3502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IN" sz="1600" u="none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boolean</a:t>
                      </a:r>
                      <a:endParaRPr lang="en-IN" sz="1600" u="non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6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Boolean </a:t>
                      </a:r>
                      <a:endParaRPr lang="en-IN" sz="1600" u="non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4222452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IN" sz="1600" u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6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Character</a:t>
                      </a:r>
                      <a:endParaRPr lang="en-IN" sz="1600" u="non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844199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IN" sz="1600" u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byte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6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Byte</a:t>
                      </a:r>
                      <a:endParaRPr lang="en-IN" sz="1600" u="non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66533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IN" sz="1600" u="non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short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6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Short</a:t>
                      </a:r>
                      <a:endParaRPr lang="en-IN" sz="1600" u="non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134216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IN" sz="1600" u="non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6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Integer</a:t>
                      </a:r>
                      <a:endParaRPr lang="en-IN" sz="1600" u="non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869129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IN" sz="1600" u="non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long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6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Long</a:t>
                      </a:r>
                      <a:endParaRPr lang="en-IN" sz="1600" u="non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970180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IN" sz="1600" u="non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float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6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Float</a:t>
                      </a:r>
                      <a:endParaRPr lang="en-IN" sz="1600" u="non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531453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IN" sz="1600" u="non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double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6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Double</a:t>
                      </a:r>
                      <a:endParaRPr lang="en-IN" sz="1600" u="non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003746812"/>
                  </a:ext>
                </a:extLst>
              </a:tr>
            </a:tbl>
          </a:graphicData>
        </a:graphic>
      </p:graphicFrame>
      <p:sp>
        <p:nvSpPr>
          <p:cNvPr id="6" name="Rectangle: Beveled 5">
            <a:extLst>
              <a:ext uri="{FF2B5EF4-FFF2-40B4-BE49-F238E27FC236}">
                <a16:creationId xmlns:a16="http://schemas.microsoft.com/office/drawing/2014/main" id="{6061AC20-CE2D-419D-A78C-70C09C91263B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2114876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Wrapper Classes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742950"/>
            <a:ext cx="7924800" cy="4343400"/>
          </a:xfrm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methods wrapper classes: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valueOf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() method:</a:t>
            </a:r>
          </a:p>
          <a:p>
            <a:pPr lvl="2" algn="just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We can use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valueOf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() method to create wrapper object for given primitive or string.</a:t>
            </a:r>
          </a:p>
          <a:p>
            <a:pPr lvl="2" algn="just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It is a static method.</a:t>
            </a:r>
          </a:p>
          <a:p>
            <a:pPr lvl="2" algn="just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It returns object reference of relative wrapper class.</a:t>
            </a:r>
          </a:p>
          <a:p>
            <a:pPr marL="658368" lvl="2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public class Method</a:t>
            </a:r>
          </a:p>
          <a:p>
            <a:pPr marL="658368" lvl="2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marL="658368" lvl="2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public static void main (String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args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[])</a:t>
            </a:r>
          </a:p>
          <a:p>
            <a:pPr marL="658368" lvl="2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{</a:t>
            </a:r>
          </a:p>
          <a:p>
            <a:pPr marL="658368" lvl="2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Interger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hello=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Integer.valueOf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(“123”);</a:t>
            </a:r>
          </a:p>
          <a:p>
            <a:pPr marL="658368" lvl="2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 Double hello1=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Double.valueOf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(“3.14”);</a:t>
            </a:r>
          </a:p>
          <a:p>
            <a:pPr marL="658368" lvl="2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Interger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hello2=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Integer.valueOf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(“1010”, 2);</a:t>
            </a:r>
          </a:p>
          <a:p>
            <a:pPr marL="658368" lvl="2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}</a:t>
            </a:r>
          </a:p>
          <a:p>
            <a:pPr marL="658368" lvl="2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15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: Beveled 5">
            <a:extLst>
              <a:ext uri="{FF2B5EF4-FFF2-40B4-BE49-F238E27FC236}">
                <a16:creationId xmlns:a16="http://schemas.microsoft.com/office/drawing/2014/main" id="{3D08F2B1-C2FB-4EEB-9CB8-627D1071C0A5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8645061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Wrapper Classes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742950"/>
            <a:ext cx="7924800" cy="43434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methods wrapper classes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…):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parseXxx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() method:</a:t>
            </a:r>
          </a:p>
          <a:p>
            <a:pPr lvl="2" algn="just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It is also a static method.</a:t>
            </a:r>
          </a:p>
          <a:p>
            <a:pPr lvl="2" algn="just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Xxx can be replaced by any primitive type. </a:t>
            </a:r>
          </a:p>
          <a:p>
            <a:pPr lvl="2" algn="just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It returns Xxx type value.</a:t>
            </a:r>
          </a:p>
          <a:p>
            <a:pPr marL="658368" lvl="2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public class Method</a:t>
            </a:r>
          </a:p>
          <a:p>
            <a:pPr marL="658368" lvl="2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marL="658368" lvl="2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public static void main (String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args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[])</a:t>
            </a:r>
          </a:p>
          <a:p>
            <a:pPr marL="658368" lvl="2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{</a:t>
            </a:r>
          </a:p>
          <a:p>
            <a:pPr marL="658368" lvl="2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 int I=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Integer.parseInt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(“123”);</a:t>
            </a:r>
          </a:p>
          <a:p>
            <a:pPr marL="658368" lvl="2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 double d=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Double.parseDouble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(“3.14”);</a:t>
            </a:r>
          </a:p>
          <a:p>
            <a:pPr marL="658368" lvl="2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}</a:t>
            </a:r>
          </a:p>
          <a:p>
            <a:pPr marL="658368" lvl="2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16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03B96820-DAF3-4D6D-A310-CC03ADA28049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5483903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Wrapper Classes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742950"/>
            <a:ext cx="7924800" cy="43434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methods wrapper classes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…):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xxxValue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() method:</a:t>
            </a:r>
          </a:p>
          <a:p>
            <a:pPr lvl="2" algn="just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Instance method of wrapper class.</a:t>
            </a:r>
          </a:p>
          <a:p>
            <a:pPr lvl="2" algn="just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Xxx can be replaced by any primitive type. </a:t>
            </a:r>
          </a:p>
          <a:p>
            <a:pPr lvl="2" algn="just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It returns xxx primitive type.</a:t>
            </a:r>
          </a:p>
          <a:p>
            <a:pPr marL="658368" lvl="2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public class Method</a:t>
            </a:r>
          </a:p>
          <a:p>
            <a:pPr marL="658368" lvl="2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marL="658368" lvl="2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public static void main (String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args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[])</a:t>
            </a:r>
          </a:p>
          <a:p>
            <a:pPr marL="658368" lvl="2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{</a:t>
            </a:r>
          </a:p>
          <a:p>
            <a:pPr marL="658368" lvl="2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Interger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hello1=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Integer.valueOf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(“1010”, 2);</a:t>
            </a:r>
          </a:p>
          <a:p>
            <a:pPr marL="658368" lvl="2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 int a= hello1.intValue()</a:t>
            </a:r>
          </a:p>
          <a:p>
            <a:pPr marL="658368" lvl="2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}</a:t>
            </a:r>
          </a:p>
          <a:p>
            <a:pPr marL="658368" lvl="2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17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C17B2AF0-A5B0-4A93-87DE-49D2710916C3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5081671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Wrapper Classes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742950"/>
            <a:ext cx="7485888" cy="41148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Autoboxing: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Converting primitive data type to wrapper type. </a:t>
            </a: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18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B7BDEA-A24C-4A5E-8323-AD1970B3E8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7644" y="2114550"/>
            <a:ext cx="4382112" cy="2286000"/>
          </a:xfrm>
          <a:prstGeom prst="rect">
            <a:avLst/>
          </a:prstGeom>
        </p:spPr>
      </p:pic>
      <p:sp>
        <p:nvSpPr>
          <p:cNvPr id="8" name="Rectangle: Beveled 7">
            <a:extLst>
              <a:ext uri="{FF2B5EF4-FFF2-40B4-BE49-F238E27FC236}">
                <a16:creationId xmlns:a16="http://schemas.microsoft.com/office/drawing/2014/main" id="{7BE2EA56-E0D4-416B-A517-BF1AECBA05C0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5395766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Wrapper Classes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742950"/>
            <a:ext cx="7485888" cy="41148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Autoboxing (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…):</a:t>
            </a: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2336" lvl="1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Converting value is: 100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19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4097397D-3E9C-4B79-A603-9B59408AE241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2507031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Wrapper Classes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742950"/>
            <a:ext cx="7485888" cy="41148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Unboxing: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Converting wrapper type to respective primitive data type.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the reverse process of autoboxing</a:t>
            </a:r>
          </a:p>
          <a:p>
            <a:pPr marL="402336" lvl="1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2336" lvl="1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2336" lvl="1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20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506C0C-817C-4225-8659-FE8E3395B3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2190750"/>
            <a:ext cx="3733800" cy="2538412"/>
          </a:xfrm>
          <a:prstGeom prst="rect">
            <a:avLst/>
          </a:prstGeom>
        </p:spPr>
      </p:pic>
      <p:sp>
        <p:nvSpPr>
          <p:cNvPr id="8" name="Rectangle: Beveled 7">
            <a:extLst>
              <a:ext uri="{FF2B5EF4-FFF2-40B4-BE49-F238E27FC236}">
                <a16:creationId xmlns:a16="http://schemas.microsoft.com/office/drawing/2014/main" id="{134F66DD-3482-4CBD-8C43-F45000BD6A13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346630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Wrapper Classes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742950"/>
            <a:ext cx="7485888" cy="41148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Unboxing (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…):</a:t>
            </a: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2336" lvl="1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100</a:t>
            </a: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21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19225E87-4F1B-4536-91D1-0D0B17E78D2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9585623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Wrapper Classes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A04892B-5EC5-4527-B75F-D0942FAABC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1276350"/>
            <a:ext cx="4038599" cy="3048000"/>
          </a:xfr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22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BEDB5BFD-3407-4227-85F0-F61D25EEA42B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4849949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Wrapper Classes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742950"/>
            <a:ext cx="7485888" cy="41148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Unboxing (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…):</a:t>
            </a: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2336" lvl="1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100</a:t>
            </a:r>
          </a:p>
          <a:p>
            <a:pPr marL="402336" lvl="1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100.5644</a:t>
            </a:r>
          </a:p>
          <a:p>
            <a:pPr marL="402336" lvl="1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</a:t>
            </a: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23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7FE78DD4-38D9-4574-B14E-9868E57FD77F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9212954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BDC88-5686-4D8C-A45E-430AC6155FF9}" type="datetime1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1/22/2020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sv-SE">
                <a:latin typeface="Times New Roman" pitchFamily="18" charset="0"/>
                <a:cs typeface="Times New Roman" pitchFamily="18" charset="0"/>
              </a:rPr>
              <a:t>Comprehensive Examination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 lnSpcReduction="10000"/>
          </a:bodyPr>
          <a:lstStyle/>
          <a:p>
            <a:pPr algn="ctr"/>
            <a:fld id="{8F82E0A0-C266-4798-8C8F-B9F91E9DA37E}" type="slidenum">
              <a:rPr lang="en-US" sz="2800" b="1" smtClean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pPr algn="ctr"/>
              <a:t>24</a:t>
            </a:fld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7014" y="2985191"/>
            <a:ext cx="5126986" cy="2158309"/>
          </a:xfrm>
          <a:prstGeom prst="rect">
            <a:avLst/>
          </a:prstGeom>
        </p:spPr>
      </p:pic>
      <p:pic>
        <p:nvPicPr>
          <p:cNvPr id="10" name="Picture 9" descr="263762-frederika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962400" y="0"/>
            <a:ext cx="5181600" cy="3028950"/>
          </a:xfrm>
          <a:prstGeom prst="rect">
            <a:avLst/>
          </a:prstGeom>
        </p:spPr>
      </p:pic>
      <p:pic>
        <p:nvPicPr>
          <p:cNvPr id="13" name="Picture 12" descr="10426693503_00e4413427_b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4038599" cy="5143500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WidescreenPresentation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5000"/>
                <a:satMod val="150000"/>
              </a:schemeClr>
            </a:gs>
            <a:gs pos="35000">
              <a:schemeClr val="phClr">
                <a:shade val="60000"/>
                <a:satMod val="150000"/>
              </a:schemeClr>
            </a:gs>
            <a:gs pos="100000">
              <a:schemeClr val="phClr">
                <a:tint val="97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0</TotalTime>
  <Words>1150</Words>
  <Application>Microsoft Office PowerPoint</Application>
  <PresentationFormat>On-screen Show (16:9)</PresentationFormat>
  <Paragraphs>337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Arial Black</vt:lpstr>
      <vt:lpstr>Calibri</vt:lpstr>
      <vt:lpstr>Gill Sans MT</vt:lpstr>
      <vt:lpstr>Times New Roman</vt:lpstr>
      <vt:lpstr>Tw Cen MT</vt:lpstr>
      <vt:lpstr>Verdana</vt:lpstr>
      <vt:lpstr>Wingdings</vt:lpstr>
      <vt:lpstr>Wingdings 2</vt:lpstr>
      <vt:lpstr>WidescreenPresentation</vt:lpstr>
      <vt:lpstr>Solstice</vt:lpstr>
      <vt:lpstr>Object Oriented Programming using Java (ECSE102L)</vt:lpstr>
      <vt:lpstr>Outline</vt:lpstr>
      <vt:lpstr>Lifecycle of an Object</vt:lpstr>
      <vt:lpstr>Lifecycle of an Object (Cont…)</vt:lpstr>
      <vt:lpstr>Lifecycle of an Object (Cont…)</vt:lpstr>
      <vt:lpstr>Lifecycle of an Object (Cont…)</vt:lpstr>
      <vt:lpstr>Lifecycle of an Object (Cont…)</vt:lpstr>
      <vt:lpstr>Lifecycle of an Object (Cont…)</vt:lpstr>
      <vt:lpstr>Lifecycle of an Object (Cont…)</vt:lpstr>
      <vt:lpstr>Lifecycle of an Object (Cont…)</vt:lpstr>
      <vt:lpstr>Lifecycle of an Object (Cont…)</vt:lpstr>
      <vt:lpstr>Wrapper Classes</vt:lpstr>
      <vt:lpstr>Wrapper Classes (Cont…)</vt:lpstr>
      <vt:lpstr>Wrapper Classes (Cont…)</vt:lpstr>
      <vt:lpstr>Wrapper Classes (Cont…)</vt:lpstr>
      <vt:lpstr>Wrapper Classes (Cont…)</vt:lpstr>
      <vt:lpstr>Wrapper Classes (Cont…)</vt:lpstr>
      <vt:lpstr>Wrapper Classes (Cont…)</vt:lpstr>
      <vt:lpstr>Wrapper Classes (Cont…)</vt:lpstr>
      <vt:lpstr>Wrapper Classes (Cont…)</vt:lpstr>
      <vt:lpstr>Wrapper Classes (Cont…)</vt:lpstr>
      <vt:lpstr>Wrapper Classes (Cont…)</vt:lpstr>
      <vt:lpstr>Wrapper Classes (Cont…)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2012-12-10T10:37:09Z</dcterms:created>
  <dcterms:modified xsi:type="dcterms:W3CDTF">2020-01-22T06:02:18Z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LCID">
    <vt:i4>1033</vt:i4>
  </property>
  <property fmtid="{D5CDD505-2E9C-101B-9397-08002B2CF9AE}" pid="3" name="_Version">
    <vt:lpwstr>12.0.4518</vt:lpwstr>
  </property>
</Properties>
</file>